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4300" b="1">
                <a:solidFill>
                  <a:srgbClr val="484848"/>
                </a:solidFill>
                <a:latin typeface="Pretendard"/>
              </a:defRPr>
            </a:pPr>
            <a:r>
              <a:t>H3 — 사진 수와 수익의 관계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789920" cy="2743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10789920" cy="64008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61288"/>
            <a:ext cx="10332720" cy="4571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2000" b="0">
                <a:solidFill>
                  <a:srgbClr val="484848"/>
                </a:solidFill>
                <a:latin typeface="Pretendard"/>
              </a:defRPr>
            </a:pPr>
            <a:r>
              <a:t>인사이트 :  사진 수 21~35장 구간에서 RevPAR 효율이 가장 높음. 그 이후 추가 효과는 절반으로 감소.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754880" y="1920240"/>
            <a:ext cx="0" cy="4023360"/>
          </a:xfrm>
          <a:prstGeom prst="line">
            <a:avLst/>
          </a:prstGeom>
          <a:ln w="1270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228600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8300" b="1">
                <a:solidFill>
                  <a:srgbClr val="FF385C"/>
                </a:solidFill>
                <a:latin typeface="Pretendard"/>
              </a:defRPr>
            </a:pPr>
            <a:r>
              <a:t>21~35장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546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2000" b="1">
                <a:solidFill>
                  <a:srgbClr val="484848"/>
                </a:solidFill>
                <a:latin typeface="Pretendard"/>
              </a:defRPr>
            </a:pPr>
            <a:r>
              <a:t>RevPAR 효율 최적 구간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20440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0">
                <a:solidFill>
                  <a:srgbClr val="767676"/>
                </a:solidFill>
                <a:latin typeface="Pretendard"/>
              </a:defRPr>
            </a:pPr>
            <a:r>
              <a:t>사진 30장 추가 시 수익 +132%</a:t>
            </a:r>
          </a:p>
          <a:p>
            <a:pPr algn="l">
              <a:defRPr sz="1400" b="0">
                <a:solidFill>
                  <a:srgbClr val="767676"/>
                </a:solidFill>
                <a:latin typeface="Pretendard"/>
              </a:defRPr>
            </a:pPr>
            <a:r>
              <a:t>그 이후 60장을 더 찍어도 추가 효과는 절반으로 감소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389120"/>
            <a:ext cx="3840480" cy="59436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389120"/>
            <a:ext cx="27432" cy="594360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449884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2200" b="1">
                <a:solidFill>
                  <a:srgbClr val="FF385C"/>
                </a:solidFill>
                <a:latin typeface="Pretendard"/>
              </a:defRPr>
            </a:pPr>
            <a:r>
              <a:t>+110%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4480559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1-10장 → 21-30장</a:t>
            </a:r>
          </a:p>
          <a:p>
            <a:pPr algn="l"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수익 증가율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120640"/>
            <a:ext cx="3840480" cy="59436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523036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2200" b="1">
                <a:solidFill>
                  <a:srgbClr val="484848"/>
                </a:solidFill>
                <a:latin typeface="Pretendard"/>
              </a:defRPr>
            </a:pPr>
            <a:r>
              <a:t>₩106,290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5212079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91-100장 피크값</a:t>
            </a:r>
          </a:p>
          <a:p>
            <a:pPr algn="l"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(n=122, 표본 소수)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300" b="1">
                <a:solidFill>
                  <a:srgbClr val="FF385C"/>
                </a:solidFill>
                <a:latin typeface="Pretendard"/>
              </a:defRPr>
            </a:pPr>
            <a:r>
              <a:t>→ 21~35장이 비용 대비 효과가 가장 높은 구간</a:t>
            </a:r>
          </a:p>
        </p:txBody>
      </p:sp>
      <p:pic>
        <p:nvPicPr>
          <p:cNvPr id="18" name="Picture 17" descr="h3_photos_revp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6675120" cy="4572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defRPr sz="1400" b="0">
                <a:solidFill>
                  <a:srgbClr val="B0B0B0"/>
                </a:solidFill>
                <a:latin typeface="Pretendard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4300" b="1">
                <a:solidFill>
                  <a:srgbClr val="484848"/>
                </a:solidFill>
                <a:latin typeface="Pretendard"/>
              </a:defRPr>
            </a:pPr>
            <a:r>
              <a:t>H4 — 최소숙박일, 수익과 예약률의 딜레마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789920" cy="2743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10789920" cy="64008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61288"/>
            <a:ext cx="10332720" cy="4571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2000" b="0">
                <a:solidFill>
                  <a:srgbClr val="484848"/>
                </a:solidFill>
                <a:latin typeface="Pretendard"/>
              </a:defRPr>
            </a:pPr>
            <a:r>
              <a:t>인사이트 :  짧으면 예약↑ 수익↓, 길면 수익↑ 예약↓ — 두 지표의 균형점이 RevPAR을 결정한다.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754880" y="1920240"/>
            <a:ext cx="0" cy="4023360"/>
          </a:xfrm>
          <a:prstGeom prst="line">
            <a:avLst/>
          </a:prstGeom>
          <a:ln w="1270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2286000"/>
            <a:ext cx="3840480" cy="8229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8300" b="1">
                <a:solidFill>
                  <a:srgbClr val="FF385C"/>
                </a:solidFill>
                <a:latin typeface="Pretendard"/>
              </a:defRPr>
            </a:pPr>
            <a:r>
              <a:t>2~3박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546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2000" b="1">
                <a:solidFill>
                  <a:srgbClr val="484848"/>
                </a:solidFill>
                <a:latin typeface="Pretendard"/>
              </a:defRPr>
            </a:pPr>
            <a:r>
              <a:t>수익 최적 구간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20440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0">
                <a:solidFill>
                  <a:srgbClr val="767676"/>
                </a:solidFill>
                <a:latin typeface="Pretendard"/>
              </a:defRPr>
            </a:pPr>
            <a:r>
              <a:t>수익은 2~3박에서 최대 (₩56K)</a:t>
            </a:r>
          </a:p>
          <a:p>
            <a:pPr algn="l">
              <a:defRPr sz="1400" b="0">
                <a:solidFill>
                  <a:srgbClr val="767676"/>
                </a:solidFill>
                <a:latin typeface="Pretendard"/>
              </a:defRPr>
            </a:pPr>
            <a:r>
              <a:t>예약률은 4~7박에서 최대 (60%)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389120"/>
            <a:ext cx="3840480" cy="59436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389120"/>
            <a:ext cx="27432" cy="594360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449884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2200" b="1">
                <a:solidFill>
                  <a:srgbClr val="FF385C"/>
                </a:solidFill>
                <a:latin typeface="Pretendard"/>
              </a:defRPr>
            </a:pPr>
            <a:r>
              <a:t>₩56K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4480559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2~3박 RevPAR 중위값</a:t>
            </a:r>
          </a:p>
          <a:p>
            <a:pPr algn="l"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수익 기준 최고점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120640"/>
            <a:ext cx="3840480" cy="594360"/>
          </a:xfrm>
          <a:prstGeom prst="roundRect">
            <a:avLst>
              <a:gd name="adj" fmla="val 4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5120640"/>
            <a:ext cx="27432" cy="5943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1" y="523036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2200" b="1">
                <a:solidFill>
                  <a:srgbClr val="4A90D9"/>
                </a:solidFill>
                <a:latin typeface="Pretendard"/>
              </a:defRPr>
            </a:pPr>
            <a:r>
              <a:t>60%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521208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4~7박 점유율 중위값</a:t>
            </a:r>
          </a:p>
          <a:p>
            <a:pPr algn="l"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예약률 기준 최고점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8978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300" b="1">
                <a:solidFill>
                  <a:srgbClr val="FF385C"/>
                </a:solidFill>
                <a:latin typeface="Pretendard"/>
              </a:defRPr>
            </a:pPr>
            <a:r>
              <a:t>→ 2~3박 설정이 수익·예약 균형의 최적점</a:t>
            </a:r>
          </a:p>
        </p:txBody>
      </p:sp>
      <p:pic>
        <p:nvPicPr>
          <p:cNvPr id="19" name="Picture 18" descr="h4_min_n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6675120" cy="4572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defRPr sz="1400" b="0">
                <a:solidFill>
                  <a:srgbClr val="B0B0B0"/>
                </a:solidFill>
                <a:latin typeface="Pretendard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4300" b="1">
                <a:solidFill>
                  <a:srgbClr val="484848"/>
                </a:solidFill>
                <a:latin typeface="Pretendard"/>
              </a:defRPr>
            </a:pPr>
            <a:r>
              <a:t>H5 — 추가요금, 수익을 깎는 숨은 변수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789920" cy="2743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10789920" cy="64008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61288"/>
            <a:ext cx="10332720" cy="4571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2000" b="0">
                <a:solidFill>
                  <a:srgbClr val="484848"/>
                </a:solidFill>
                <a:latin typeface="Pretendard"/>
              </a:defRPr>
            </a:pPr>
            <a:r>
              <a:t>인사이트 :  추가요금을 부과하는 숙소는 부과하지 않는 숙소 대비 수익이 최대 56% 낮음. 특히 대형 숙소에서 손실 극대화.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754880" y="1920240"/>
            <a:ext cx="0" cy="4023360"/>
          </a:xfrm>
          <a:prstGeom prst="line">
            <a:avLst/>
          </a:prstGeom>
          <a:ln w="1270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228600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8300" b="1">
                <a:solidFill>
                  <a:srgbClr val="FF385C"/>
                </a:solidFill>
                <a:latin typeface="Pretendard"/>
              </a:defRPr>
            </a:pPr>
            <a:r>
              <a:t>-56%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546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2000" b="1">
                <a:solidFill>
                  <a:srgbClr val="484848"/>
                </a:solidFill>
                <a:latin typeface="Pretendard"/>
              </a:defRPr>
            </a:pPr>
            <a:r>
              <a:t>대형 숙소 RevPAR 손실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20440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0">
                <a:solidFill>
                  <a:srgbClr val="767676"/>
                </a:solidFill>
                <a:latin typeface="Pretendard"/>
              </a:defRPr>
            </a:pPr>
            <a:r>
              <a:t>추가요금을 부과하는 숙소는 부과하지 않는</a:t>
            </a:r>
          </a:p>
          <a:p>
            <a:pPr algn="l">
              <a:defRPr sz="1400" b="0">
                <a:solidFill>
                  <a:srgbClr val="767676"/>
                </a:solidFill>
                <a:latin typeface="Pretendard"/>
              </a:defRPr>
            </a:pPr>
            <a:r>
              <a:t>숙소 대비 수익이 최대 56% 낮음</a:t>
            </a:r>
          </a:p>
          <a:p>
            <a:pPr algn="l">
              <a:defRPr sz="1400" b="0">
                <a:solidFill>
                  <a:srgbClr val="767676"/>
                </a:solidFill>
                <a:latin typeface="Pretendard"/>
              </a:defRPr>
            </a:pPr>
            <a:r>
              <a:t>특히 대형 숙소(7인+)에서 손실이 극대화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389120"/>
            <a:ext cx="3840480" cy="59436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389120"/>
            <a:ext cx="27432" cy="594360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449884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2200" b="1">
                <a:solidFill>
                  <a:srgbClr val="FF385C"/>
                </a:solidFill>
                <a:latin typeface="Pretendard"/>
              </a:defRPr>
            </a:pPr>
            <a:r>
              <a:t>₩63K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4480559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대형 숙소 객실당</a:t>
            </a:r>
          </a:p>
          <a:p>
            <a:pPr algn="l"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수익 손실 금액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120640"/>
            <a:ext cx="3840480" cy="59436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523036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2200" b="1">
                <a:solidFill>
                  <a:srgbClr val="484848"/>
                </a:solidFill>
                <a:latin typeface="Pretendard"/>
              </a:defRPr>
            </a:pPr>
            <a:r>
              <a:t>-25%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5212079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소형 숙소도 -25% 손실</a:t>
            </a:r>
          </a:p>
          <a:p>
            <a:pPr algn="l"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추가요금 전략 재검토 필요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300" b="1">
                <a:solidFill>
                  <a:srgbClr val="FF385C"/>
                </a:solidFill>
                <a:latin typeface="Pretendard"/>
              </a:defRPr>
            </a:pPr>
            <a:r>
              <a:t>→ 대형+관광지: 추가요금 즉시 제거 권장</a:t>
            </a:r>
          </a:p>
        </p:txBody>
      </p:sp>
      <p:pic>
        <p:nvPicPr>
          <p:cNvPr id="18" name="Picture 17" descr="h5_extra_f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6675120" cy="4572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defRPr sz="1400" b="0">
                <a:solidFill>
                  <a:srgbClr val="B0B0B0"/>
                </a:solidFill>
                <a:latin typeface="Pretendard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4300" b="1">
                <a:solidFill>
                  <a:srgbClr val="484848"/>
                </a:solidFill>
                <a:latin typeface="Pretendard"/>
              </a:defRPr>
            </a:pPr>
            <a:r>
              <a:t>The Paradox of Perfection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789920" cy="2743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10789920" cy="64008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61288"/>
            <a:ext cx="10332720" cy="4571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2000" b="0">
                <a:solidFill>
                  <a:srgbClr val="484848"/>
                </a:solidFill>
                <a:latin typeface="Pretendard"/>
              </a:defRPr>
            </a:pPr>
            <a:r>
              <a:t>인사이트 :  완벽한 5.0점이 아닌 4.85~4.95점 구간에서 RevPAR이 가장 높음. 만점 추구가 오히려 수익을 낮춘다.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754880" y="1920240"/>
            <a:ext cx="0" cy="4023360"/>
          </a:xfrm>
          <a:prstGeom prst="line">
            <a:avLst/>
          </a:prstGeom>
          <a:ln w="1270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228600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7000" b="1">
                <a:solidFill>
                  <a:srgbClr val="FF385C"/>
                </a:solidFill>
                <a:latin typeface="Pretendard"/>
              </a:defRPr>
            </a:pPr>
            <a:r>
              <a:t>4.85~4.95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546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2000" b="1">
                <a:solidFill>
                  <a:srgbClr val="484848"/>
                </a:solidFill>
                <a:latin typeface="Pretendard"/>
              </a:defRPr>
            </a:pPr>
            <a:r>
              <a:t>최적 평점 구간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20440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0">
                <a:solidFill>
                  <a:srgbClr val="767676"/>
                </a:solidFill>
                <a:latin typeface="Pretendard"/>
              </a:defRPr>
            </a:pPr>
            <a:r>
              <a:t>완벽한 5.0점이 아닌 4.85~4.95점 구간에서</a:t>
            </a:r>
          </a:p>
          <a:p>
            <a:pPr algn="l">
              <a:defRPr sz="1400" b="0">
                <a:solidFill>
                  <a:srgbClr val="767676"/>
                </a:solidFill>
                <a:latin typeface="Pretendard"/>
              </a:defRPr>
            </a:pPr>
            <a:r>
              <a:t>RevPAR 중위값이 가장 높음</a:t>
            </a:r>
          </a:p>
          <a:p>
            <a:pPr algn="l">
              <a:defRPr sz="1400" b="0">
                <a:solidFill>
                  <a:srgbClr val="767676"/>
                </a:solidFill>
                <a:latin typeface="Pretendard"/>
              </a:defRPr>
            </a:pPr>
            <a:r>
              <a:t>최상의 성과는 '신뢰할 수 있는 구간'에서 나옴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389120"/>
            <a:ext cx="3840480" cy="59436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389120"/>
            <a:ext cx="27432" cy="594360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449884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2200" b="1">
                <a:solidFill>
                  <a:srgbClr val="FF385C"/>
                </a:solidFill>
                <a:latin typeface="Pretendard"/>
              </a:defRPr>
            </a:pPr>
            <a:r>
              <a:t>₩91,964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4480559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4.85~4.95 × 60+장</a:t>
            </a:r>
          </a:p>
          <a:p>
            <a:pPr algn="l"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최고 RevPAR 조합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120640"/>
            <a:ext cx="3840480" cy="59436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523036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2200" b="1">
                <a:solidFill>
                  <a:srgbClr val="484848"/>
                </a:solidFill>
                <a:latin typeface="Pretendard"/>
              </a:defRPr>
            </a:pPr>
            <a:r>
              <a:t>-15%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5212079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만점 5.0의 함정</a:t>
            </a:r>
          </a:p>
          <a:p>
            <a:pPr algn="l"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₩53,483 (같은 사진 구간)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300" b="1">
                <a:solidFill>
                  <a:srgbClr val="FF385C"/>
                </a:solidFill>
                <a:latin typeface="Pretendard"/>
              </a:defRPr>
            </a:pPr>
            <a:r>
              <a:t>→ 만점 추구보다 4.85~4.95 유지가 수익에 유리</a:t>
            </a:r>
          </a:p>
        </p:txBody>
      </p:sp>
      <p:pic>
        <p:nvPicPr>
          <p:cNvPr id="18" name="Picture 17" descr="h3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6675120" cy="4572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defRPr sz="1400" b="0">
                <a:solidFill>
                  <a:srgbClr val="B0B0B0"/>
                </a:solidFill>
                <a:latin typeface="Pretendard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
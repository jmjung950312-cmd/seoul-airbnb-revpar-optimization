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EDA · 가설검증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800" b="1">
                <a:solidFill>
                  <a:srgbClr val="484848"/>
                </a:solidFill>
                <a:latin typeface="Pretendard"/>
              </a:defRPr>
            </a:pPr>
            <a:r>
              <a:t>H1 — 슈퍼호스트 프리미엄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37160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8000" b="1">
                <a:solidFill>
                  <a:srgbClr val="FF385C"/>
                </a:solidFill>
                <a:latin typeface="Pretendard"/>
              </a:defRPr>
            </a:pPr>
            <a:r>
              <a:t>+83.1%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슈퍼호스트 RevPAR 프리미엄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일반 호스트 중위값 ₩31,825 대비</a:t>
            </a:r>
          </a:p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슈퍼호스트 중위값 ₩61,205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27432" cy="64008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4531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400" b="1">
                <a:solidFill>
                  <a:srgbClr val="FF385C"/>
                </a:solidFill>
                <a:latin typeface="Pretendard"/>
              </a:defRPr>
            </a:pPr>
            <a:r>
              <a:t>+148.2%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1655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슈퍼호스트 + 즉시예약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두 조건 결합 시 프리미엄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3840480" cy="64008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2303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400" b="1">
                <a:solidFill>
                  <a:srgbClr val="484848"/>
                </a:solidFill>
                <a:latin typeface="Pretendard"/>
              </a:defRPr>
            </a:pPr>
            <a:r>
              <a:t>₩47,850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19379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Active+Operating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전체 중위값 (기준선)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1645920"/>
            <a:ext cx="0" cy="429768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1463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767676"/>
                </a:solidFill>
                <a:latin typeface="Pretendard"/>
              </a:defRPr>
            </a:pPr>
            <a:r>
              <a:t>슈퍼호스트 × 예약방식별 RevPAR 중위값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148840"/>
            <a:ext cx="1097280" cy="3291840"/>
          </a:xfrm>
          <a:prstGeom prst="roundRect">
            <a:avLst>
              <a:gd name="adj" fmla="val 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1828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₩63,708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5513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슈퍼호스트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즉시예약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2366425"/>
            <a:ext cx="1097280" cy="3074254"/>
          </a:xfrm>
          <a:prstGeom prst="roundRect">
            <a:avLst>
              <a:gd name="adj" fmla="val 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204638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₩59,497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5513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슈퍼호스트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수동승인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742624"/>
            <a:ext cx="1097280" cy="1698055"/>
          </a:xfrm>
          <a:prstGeom prst="roundRect">
            <a:avLst>
              <a:gd name="adj" fmla="val 2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225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₩32,863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13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일반 호스트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즉시예약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3846844"/>
            <a:ext cx="1097280" cy="1593835"/>
          </a:xfrm>
          <a:prstGeom prst="roundRect">
            <a:avLst>
              <a:gd name="adj" fmla="val 2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35268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₩30,846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5513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일반 호스트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수동승인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59" y="2968234"/>
            <a:ext cx="6035041" cy="0"/>
          </a:xfrm>
          <a:prstGeom prst="line">
            <a:avLst/>
          </a:prstGeom>
          <a:ln w="1524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784080" y="271220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전체 중위값 ₩47,850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77840" y="5989320"/>
            <a:ext cx="5669280" cy="0"/>
          </a:xfrm>
          <a:prstGeom prst="line">
            <a:avLst/>
          </a:prstGeom>
          <a:ln w="1016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23760" y="6099048"/>
            <a:ext cx="137160" cy="137160"/>
          </a:xfrm>
          <a:prstGeom prst="roundRect">
            <a:avLst>
              <a:gd name="adj" fmla="val 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608075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슈퍼호스트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6099048"/>
            <a:ext cx="137160" cy="137160"/>
          </a:xfrm>
          <a:prstGeom prst="roundRect">
            <a:avLst>
              <a:gd name="adj" fmla="val 2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608075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일반 호스트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
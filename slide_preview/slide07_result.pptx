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RESULT — 대시보드·자동화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88136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881360" cy="50292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FF385C"/>
                </a:solidFill>
                <a:latin typeface="Pretendard"/>
              </a:rPr>
              <a:t>💡 인사이트:  </a:t>
            </a:r>
            <a:r>
              <a:rPr sz="1500" b="0">
                <a:solidFill>
                  <a:srgbClr val="484848"/>
                </a:solidFill>
                <a:latin typeface="Pretendard"/>
              </a:rPr>
              <a:t>호스트가 </a:t>
            </a:r>
            <a:r>
              <a:rPr sz="1500" b="1">
                <a:solidFill>
                  <a:srgbClr val="484848"/>
                </a:solidFill>
                <a:latin typeface="Pretendard"/>
              </a:rPr>
              <a:t>통제할 수 있는 변수만</a:t>
            </a:r>
            <a:r>
              <a:rPr sz="1500" b="0">
                <a:solidFill>
                  <a:srgbClr val="484848"/>
                </a:solidFill>
                <a:latin typeface="Pretendard"/>
              </a:rPr>
              <a:t>으로 객실당 수익을 극대화하는 </a:t>
            </a:r>
            <a:r>
              <a:rPr sz="1500" b="1">
                <a:solidFill>
                  <a:srgbClr val="484848"/>
                </a:solidFill>
                <a:latin typeface="Pretendard"/>
              </a:rPr>
              <a:t>데이터 기반 의사결정 체계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0992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709928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900" b="1">
                <a:solidFill>
                  <a:srgbClr val="2E7D32"/>
                </a:solidFill>
                <a:latin typeface="Pretendard"/>
              </a:defRPr>
            </a:pPr>
            <a:r>
              <a:t>🆓 무료 이메일 진단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066543"/>
            <a:ext cx="4983480" cy="3520440"/>
          </a:xfrm>
          <a:prstGeom prst="roundRect">
            <a:avLst>
              <a:gd name="adj" fmla="val 3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29967"/>
            <a:ext cx="498348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029967"/>
            <a:ext cx="4983480" cy="292608"/>
          </a:xfrm>
          <a:prstGeom prst="roundRect">
            <a:avLst>
              <a:gd name="adj" fmla="val 3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67711"/>
            <a:ext cx="4983480" cy="54864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121408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121408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121408"/>
            <a:ext cx="91440" cy="9144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80160" y="2084831"/>
            <a:ext cx="3200400" cy="164592"/>
          </a:xfrm>
          <a:prstGeom prst="roundRect">
            <a:avLst>
              <a:gd name="adj" fmla="val 50000"/>
            </a:avLst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19" y="2084831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800" b="0">
                <a:solidFill>
                  <a:srgbClr val="B0B0B0"/>
                </a:solidFill>
                <a:latin typeface="Pretendard"/>
              </a:defRPr>
            </a:pPr>
            <a:r>
              <a:t>revpar-check.streamlit.app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2084831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084831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700" b="1">
                <a:solidFill>
                  <a:srgbClr val="FFFFFF"/>
                </a:solidFill>
                <a:latin typeface="Pretendard"/>
              </a:defRPr>
            </a:pPr>
            <a:r>
              <a:t>● LIVE</a:t>
            </a:r>
          </a:p>
        </p:txBody>
      </p:sp>
      <p:pic>
        <p:nvPicPr>
          <p:cNvPr id="19" name="Picture 18" descr="dashboard_free_3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17" y="2368295"/>
            <a:ext cx="4516404" cy="313639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852160" y="170992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25312" y="1709928"/>
            <a:ext cx="131673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900" b="1">
                <a:solidFill>
                  <a:srgbClr val="FF385C"/>
                </a:solidFill>
                <a:latin typeface="Pretendard"/>
              </a:defRPr>
            </a:pPr>
            <a:r>
              <a:t>💎 PRO 대시보드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88736" y="2066543"/>
            <a:ext cx="5577840" cy="3520440"/>
          </a:xfrm>
          <a:prstGeom prst="roundRect">
            <a:avLst>
              <a:gd name="adj" fmla="val 3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52160" y="2029967"/>
            <a:ext cx="557784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52160" y="2029967"/>
            <a:ext cx="5577840" cy="292608"/>
          </a:xfrm>
          <a:prstGeom prst="roundRect">
            <a:avLst>
              <a:gd name="adj" fmla="val 3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2267711"/>
            <a:ext cx="5577840" cy="54864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89320" y="2121408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0" y="2121408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63640" y="2121408"/>
            <a:ext cx="91440" cy="9144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2084831"/>
            <a:ext cx="3200400" cy="164592"/>
          </a:xfrm>
          <a:prstGeom prst="roundRect">
            <a:avLst>
              <a:gd name="adj" fmla="val 50000"/>
            </a:avLst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084831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800" b="0">
                <a:solidFill>
                  <a:srgbClr val="B0B0B0"/>
                </a:solidFill>
                <a:latin typeface="Pretendard"/>
              </a:defRPr>
            </a:pPr>
            <a:r>
              <a:t>revpar-dashboard.streamlit.app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89920" y="2084831"/>
            <a:ext cx="411480" cy="164592"/>
          </a:xfrm>
          <a:prstGeom prst="roundRect">
            <a:avLst>
              <a:gd name="adj" fmla="val 5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0" y="2084831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700" b="1">
                <a:solidFill>
                  <a:srgbClr val="FFFFFF"/>
                </a:solidFill>
                <a:latin typeface="Pretendard"/>
              </a:defRPr>
            </a:pPr>
            <a:r>
              <a:t>● LIVE</a:t>
            </a:r>
          </a:p>
        </p:txBody>
      </p:sp>
      <p:pic>
        <p:nvPicPr>
          <p:cNvPr id="33" name="Picture 32" descr="dashboard_paid_3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761" y="2368295"/>
            <a:ext cx="5096637" cy="31363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33288" y="3790187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2800" b="1">
                <a:solidFill>
                  <a:srgbClr val="FF385C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733288"/>
            <a:ext cx="3410712" cy="1051560"/>
          </a:xfrm>
          <a:prstGeom prst="roundRect">
            <a:avLst>
              <a:gd name="adj" fmla="val 4000"/>
            </a:avLst>
          </a:prstGeom>
          <a:solidFill>
            <a:srgbClr val="FF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788152"/>
            <a:ext cx="63500" cy="941831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59" y="5824728"/>
            <a:ext cx="438912" cy="219456"/>
          </a:xfrm>
          <a:prstGeom prst="roundRect">
            <a:avLst>
              <a:gd name="adj" fmla="val 5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824728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문제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3312" y="5824728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호스트의 현실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6117336"/>
            <a:ext cx="304495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여러 채널에 분산된 운영 정보 →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숙소 현황 파악이 어렵고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수익 개선 포인트를 놓침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33672" y="5733288"/>
            <a:ext cx="3410712" cy="105156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33672" y="5788152"/>
            <a:ext cx="63500" cy="941831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16552" y="5824728"/>
            <a:ext cx="438912" cy="219456"/>
          </a:xfrm>
          <a:prstGeom prst="roundRect">
            <a:avLst>
              <a:gd name="adj" fmla="val 5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16552" y="5824728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해결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6904" y="5824728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대시보드의 가치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16552" y="6117336"/>
            <a:ext cx="304495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분산된 지표를 단일 화면에 통합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ML 기반 시장 진단 + 맞춤형 체크리스트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데이터 기반 의사결정 지원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27264" y="5733288"/>
            <a:ext cx="3410712" cy="1051560"/>
          </a:xfrm>
          <a:prstGeom prst="roundRect">
            <a:avLst>
              <a:gd name="adj" fmla="val 4000"/>
            </a:avLst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27264" y="5788152"/>
            <a:ext cx="63500" cy="941831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10144" y="5824728"/>
            <a:ext cx="438912" cy="219456"/>
          </a:xfrm>
          <a:prstGeom prst="roundRect">
            <a:avLst>
              <a:gd name="adj" fmla="val 50000"/>
            </a:avLst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10144" y="5824728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확장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0496" y="5824728"/>
            <a:ext cx="25146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플랫폼이 얻는 이익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0144" y="6117336"/>
            <a:ext cx="304495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무료 이메일 → 대시보드 유입 →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유료 전환 → 구독 수익 창출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호스트 성장 = 플랫폼 수수료 증가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
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8"/>
                </a:solidFill>
                <a:latin typeface="Noto Sans KR"/>
              </a:rPr>
              <a:t>HOW — 분석 프레임워크 &amp; AI 도입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78127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데이터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0583" y="150876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7676"/>
                </a:solidFill>
                <a:latin typeface="Noto Sans KR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0039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전처리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2495" y="150876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7676"/>
                </a:solidFill>
                <a:latin typeface="Noto Sans K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1951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4407" y="150876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7676"/>
                </a:solidFill>
                <a:latin typeface="Noto Sans K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모델링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6319" y="150876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7676"/>
                </a:solidFill>
                <a:latin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5775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8231" y="150876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7676"/>
                </a:solidFill>
                <a:latin typeface="Noto Sans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7687" y="15087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1951" y="1911096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5A5F"/>
                </a:solidFill>
                <a:latin typeface="Noto Sans KR"/>
              </a:rPr>
              <a:t>▲ AI 에이전트가 자동 수행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919" y="242316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6919" y="2423160"/>
            <a:ext cx="3200400" cy="63500"/>
          </a:xfrm>
          <a:prstGeom prst="roundRect">
            <a:avLst>
              <a:gd name="adj" fmla="val 100000"/>
            </a:avLst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239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484848"/>
                </a:solidFill>
                <a:latin typeface="Noto Sans KR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239" y="3246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8"/>
                </a:solidFill>
                <a:latin typeface="Noto Sans KR"/>
              </a:rPr>
              <a:t>객관적 가설 수립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1239" y="3657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A5F"/>
                </a:solidFill>
                <a:latin typeface="Noto Sans KR"/>
              </a:rPr>
              <a:t>9개 가설 자동 도출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1239" y="4069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분석자 편향 제거
놓칠 수 있는 가설까지 커버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5647" y="242316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5647" y="2423160"/>
            <a:ext cx="3200400" cy="63500"/>
          </a:xfrm>
          <a:prstGeom prst="roundRect">
            <a:avLst>
              <a:gd name="adj" fmla="val 10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9967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484848"/>
                </a:solidFill>
                <a:latin typeface="Noto Sans KR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9967" y="3246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8"/>
                </a:solidFill>
                <a:latin typeface="Noto Sans KR"/>
              </a:rPr>
              <a:t>일관된 품질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9967" y="3657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642D"/>
                </a:solidFill>
                <a:latin typeface="Noto Sans KR"/>
              </a:rPr>
              <a:t>누수 변수 6개 자동 검출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9967" y="4069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잘못된 예측이 호스트에게
전달되는 것 방지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4375" y="242316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34375" y="2423160"/>
            <a:ext cx="3200400" cy="63500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695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484848"/>
                </a:solidFill>
                <a:latin typeface="Noto Sans KR"/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695" y="3246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8"/>
                </a:solidFill>
                <a:latin typeface="Noto Sans KR"/>
              </a:rPr>
              <a:t>반복 가능한 분석 체계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8695" y="3657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699"/>
                </a:solidFill>
                <a:latin typeface="Noto Sans KR"/>
              </a:rPr>
              <a:t>동일 데이터 → 동일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8695" y="4069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월별 데이터 갱신 시
재분석 즉시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728655" cy="502920"/>
          </a:xfrm>
          <a:prstGeom prst="roundRect">
            <a:avLst>
              <a:gd name="adj" fmla="val 1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63500" cy="50292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86400"/>
            <a:ext cx="102714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5A5F"/>
                </a:solidFill>
                <a:latin typeface="Noto Sans KR"/>
              </a:rPr>
              <a:t>💡 인사이트: </a:t>
            </a:r>
            <a:r>
              <a:rPr sz="1300">
                <a:solidFill>
                  <a:srgbClr val="484848"/>
                </a:solidFill>
                <a:latin typeface="Noto Sans KR"/>
              </a:rPr>
              <a:t>AI를 도입한 이유는 기술이 아니라, 분석의 </a:t>
            </a:r>
            <a:r>
              <a:rPr sz="1300" b="1">
                <a:solidFill>
                  <a:srgbClr val="484848"/>
                </a:solidFill>
                <a:latin typeface="Noto Sans KR"/>
              </a:rPr>
              <a:t>객관성·품질·재현성</a:t>
            </a:r>
            <a:r>
              <a:rPr sz="1300">
                <a:solidFill>
                  <a:srgbClr val="484848"/>
                </a:solidFill>
                <a:latin typeface="Noto Sans KR"/>
              </a:rPr>
              <a:t>을 담보하기 위해서입니다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67676"/>
                </a:solidFill>
                <a:latin typeface="Noto Sans K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
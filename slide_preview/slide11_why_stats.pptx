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왜 통계적 검증이 필요한가?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12064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45720" cy="19202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9047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2024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600"/>
              </a:spcAft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EDA에서 발견된 패턴이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단순한 관찰이 아니라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실제 데이터에서 유의한 차이인지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확인하기 위해 통계 검증을 수행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5120640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45720" cy="260604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611880"/>
            <a:ext cx="457200" cy="45720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63931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비모수 검정을 선택한 이유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178807"/>
            <a:ext cx="256032" cy="256032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87952"/>
            <a:ext cx="25603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00A699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1605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RevPAR 분포가 정규분포를 따르지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398264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B0B0B0"/>
                </a:solidFill>
                <a:latin typeface="Pretendard"/>
              </a:defRPr>
            </a:pPr>
            <a:r>
              <a:t>skewness = 3.76, 극도의 우편향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727447"/>
            <a:ext cx="256032" cy="256032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36592"/>
            <a:ext cx="25603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00A699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709159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중위값과 평균의 괴리가 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946903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B0B0B0"/>
                </a:solidFill>
                <a:latin typeface="Pretendard"/>
              </a:defRPr>
            </a:pPr>
            <a:r>
              <a:t>중위값 ₩8,868 vs 평균 ₩31,310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276088"/>
            <a:ext cx="256032" cy="256032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85232"/>
            <a:ext cx="25603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00A699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525780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순위·분포 기반 검정이 더 신뢰성 높음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5495544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B0B0B0"/>
                </a:solidFill>
                <a:latin typeface="Pretendard"/>
              </a:defRPr>
            </a:pPr>
            <a:r>
              <a:t>평균 기반 검정은 이상치에 취약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234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사용된 검증 방법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691640"/>
            <a:ext cx="5394960" cy="411480"/>
          </a:xfrm>
          <a:prstGeom prst="roundRect">
            <a:avLst>
              <a:gd name="adj" fmla="val 2000"/>
            </a:avLst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783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비교 대상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783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역할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157984"/>
            <a:ext cx="539496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157984"/>
            <a:ext cx="45720" cy="105156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29514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Spearman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706624"/>
            <a:ext cx="731520" cy="274320"/>
          </a:xfrm>
          <a:prstGeom prst="roundRect">
            <a:avLst>
              <a:gd name="adj" fmla="val 4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73405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H3, H6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2951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767676"/>
                </a:solidFill>
                <a:latin typeface="Pretendard"/>
              </a:defRPr>
            </a:pPr>
            <a:r>
              <a:t>연속 변수 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267712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변수 간 관계 확인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→ 순위 기반 상관 분석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3264408"/>
            <a:ext cx="5394960" cy="105156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3264408"/>
            <a:ext cx="45720" cy="105156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4015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Mann-Whitney 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813048"/>
            <a:ext cx="731520" cy="27432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384048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H1, H5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34015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767676"/>
                </a:solidFill>
                <a:latin typeface="Pretendard"/>
              </a:defRPr>
            </a:pPr>
            <a:r>
              <a:t>두 그룹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374136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두 집단 간 수익 차이 검증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→ 비모수 독립표본 검정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4370832"/>
            <a:ext cx="539496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4370832"/>
            <a:ext cx="45720" cy="10515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5079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Kruskal-Wallis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919472"/>
            <a:ext cx="731520" cy="274320"/>
          </a:xfrm>
          <a:prstGeom prst="roundRect">
            <a:avLst>
              <a:gd name="adj" fmla="val 4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494690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H2, H4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45079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767676"/>
                </a:solidFill>
                <a:latin typeface="Pretendard"/>
              </a:defRPr>
            </a:pPr>
            <a:r>
              <a:t>세 그룹 이상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48056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다중 집단 간 수익 차이 검증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→ 비모수 분산분석(ANOVA 대안)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6172200"/>
            <a:ext cx="10789920" cy="4114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62362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385C"/>
                </a:solidFill>
                <a:latin typeface="Pretendard"/>
              </a:defRPr>
            </a:pPr>
            <a:r>
              <a:t>모든 가설이 p &lt; 0.001에서 통계적으로 유의미 → EDA 패턴이 우연이 아님을 확인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
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4300" b="1">
                <a:solidFill>
                  <a:srgbClr val="484848"/>
                </a:solidFill>
                <a:latin typeface="Pretendard"/>
              </a:defRPr>
            </a:pPr>
            <a:r>
              <a:t>수익에 영향을 미치는 주요 가설 7가지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0789920" cy="27432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10789920" cy="6400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61288"/>
            <a:ext cx="10332720" cy="4571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2000" b="0">
                <a:solidFill>
                  <a:srgbClr val="484848"/>
                </a:solidFill>
                <a:latin typeface="Pretendard"/>
              </a:defRPr>
            </a:pPr>
            <a:r>
              <a:t>인사이트 :  9개 가설 중 7개 채택 — 호스트가 통제 가능한 5개 + 시장 환경 2개로 분류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03520" cy="4114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800" b="1">
                <a:solidFill>
                  <a:srgbClr val="FF385C"/>
                </a:solidFill>
                <a:latin typeface="Pretendard"/>
              </a:defRPr>
            </a:pPr>
            <a:r>
              <a:t>호스트가 통제 가능한 변수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920240"/>
            <a:ext cx="4937760" cy="41148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800" b="1">
                <a:solidFill>
                  <a:srgbClr val="4A90D9"/>
                </a:solidFill>
                <a:latin typeface="Pretendard"/>
              </a:defRPr>
            </a:pPr>
            <a:r>
              <a:t>시장 · 환경 변수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36576" cy="749808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59" y="2651760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24327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슈퍼호스트 프리미엄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07791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슈퍼호스트는 비슈퍼호스트 대비 +83.1% 높은 수익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670048"/>
            <a:ext cx="548640" cy="256032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6883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채택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79"/>
            <a:ext cx="530352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383279"/>
            <a:ext cx="36576" cy="749808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474720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47287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사진의 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307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사진 21~35장 구간에서 RevPAR 효율이 가장 높음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3493008"/>
            <a:ext cx="548640" cy="256032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351129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채택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06240"/>
            <a:ext cx="530352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206240"/>
            <a:ext cx="36576" cy="749808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59" y="4297679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702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최소숙박 최적점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5371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최소 2~3박 설정 시 수익·예약 균형 최적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4315968"/>
            <a:ext cx="548640" cy="256032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4334255"/>
            <a:ext cx="5486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채택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029200"/>
            <a:ext cx="530352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029200"/>
            <a:ext cx="36576" cy="749808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59" y="5120640"/>
            <a:ext cx="292608" cy="292608"/>
          </a:xfrm>
          <a:prstGeom prst="ellipse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0932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추가요금 역효과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37667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7인+ 대형 숙소에서 추가요금 시 수익 -55.9%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5138928"/>
            <a:ext cx="548640" cy="256032"/>
          </a:xfrm>
          <a:prstGeom prst="roundRect">
            <a:avLst>
              <a:gd name="adj" fmla="val 4000"/>
            </a:avLst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15721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채택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852159"/>
            <a:ext cx="530352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" y="5852159"/>
            <a:ext cx="36576" cy="749808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959" y="5943599"/>
            <a:ext cx="292608" cy="292608"/>
          </a:xfrm>
          <a:prstGeom prst="ellipse">
            <a:avLst/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91616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완벽주의의 역설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6199631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만점 5.0이 아닌 4.85~4.95 구간이 수익 최고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92040" y="5961888"/>
            <a:ext cx="914400" cy="256032"/>
          </a:xfrm>
          <a:prstGeom prst="roundRect">
            <a:avLst>
              <a:gd name="adj" fmla="val 4000"/>
            </a:avLst>
          </a:prstGeom>
          <a:solidFill>
            <a:srgbClr val="00A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5980175"/>
            <a:ext cx="91440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추가 발견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2560320"/>
            <a:ext cx="493776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0" y="2560320"/>
            <a:ext cx="36576" cy="7498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766560" y="2651760"/>
            <a:ext cx="292608" cy="292608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2624327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객실 유형별 RevPAR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2907791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entire_home이 private_room 대비 2.7배 높은 RevPAR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35640" y="2670048"/>
            <a:ext cx="548640" cy="256032"/>
          </a:xfrm>
          <a:prstGeom prst="roundRect">
            <a:avLst>
              <a:gd name="adj" fmla="val 4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35640" y="268833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채택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3383279"/>
            <a:ext cx="4937760" cy="7498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0" y="3383279"/>
            <a:ext cx="36576" cy="7498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66560" y="3474720"/>
            <a:ext cx="292608" cy="292608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retendard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3447287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600" b="1">
                <a:solidFill>
                  <a:srgbClr val="484848"/>
                </a:solidFill>
                <a:latin typeface="Pretendard"/>
              </a:defRPr>
            </a:pPr>
            <a:r>
              <a:t>공급 집중 → RevPAR 압박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373075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마포구(21% 공급) 등 공급 과잉 자치구에서</a:t>
            </a:r>
          </a:p>
          <a:p>
            <a:pPr algn="l">
              <a:defRPr sz="1200" b="0">
                <a:solidFill>
                  <a:srgbClr val="767676"/>
                </a:solidFill>
                <a:latin typeface="Pretendard"/>
              </a:defRPr>
            </a:pPr>
            <a:r>
              <a:t>RevPAR 하락 압력 확인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835640" y="3493008"/>
            <a:ext cx="548640" cy="256032"/>
          </a:xfrm>
          <a:prstGeom prst="roundRect">
            <a:avLst>
              <a:gd name="adj" fmla="val 4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35640" y="351129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채택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0" y="4343400"/>
            <a:ext cx="493776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44531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400" b="1">
                <a:solidFill>
                  <a:srgbClr val="B0B0B0"/>
                </a:solidFill>
                <a:latin typeface="Pretendard"/>
              </a:defRPr>
            </a:pPr>
            <a:r>
              <a:t>분석 대상에서 제외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48006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B0B0B0"/>
                </a:solidFill>
                <a:latin typeface="Pretendard"/>
              </a:defRPr>
            </a:pPr>
            <a:r>
              <a:t>H7  POI 근접성 — 부분 채택 (유형 &gt; 거리)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50932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B0B0B0"/>
                </a:solidFill>
                <a:latin typeface="Pretendard"/>
              </a:defRPr>
            </a:pPr>
            <a:r>
              <a:t>H8  자치구 인구 — 약한 증거 (rho = -0.037)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538581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defRPr sz="1200" b="0">
                <a:solidFill>
                  <a:srgbClr val="B0B0B0"/>
                </a:solidFill>
                <a:latin typeface="Pretendard"/>
              </a:defRPr>
            </a:pPr>
            <a:r>
              <a:t>H9  Dormant 비율 — 미검증 (현황 파악만)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" y="6172200"/>
            <a:ext cx="10789920" cy="411480"/>
          </a:xfrm>
          <a:prstGeom prst="roundRect">
            <a:avLst>
              <a:gd name="adj" fmla="val 4000"/>
            </a:avLst>
          </a:prstGeom>
          <a:solidFill>
            <a:srgbClr val="FF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623620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defRPr sz="1800" b="1">
                <a:solidFill>
                  <a:srgbClr val="FF385C"/>
                </a:solidFill>
                <a:latin typeface="Pretendard"/>
              </a:defRPr>
            </a:pPr>
            <a:r>
              <a:t>이 중 호스트가 오늘 당장 바꿀 수 있는 5가지를 깊이 봅니다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defRPr sz="1400" b="0">
                <a:solidFill>
                  <a:srgbClr val="B0B0B0"/>
                </a:solidFill>
                <a:latin typeface="Pretendard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
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가격을 바꾸면 수익이 어떻게 되나요?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군집별 가격탄성도가 다르므로 강남과 관악의 최적 가격이 다릅니다. 시뮬레이터로 즉시 확인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군집별 가격탄성도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4983480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40864"/>
            <a:ext cx="32004" cy="4572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핫플 수익형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9689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가격 내성 강함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2800" b="1">
                <a:solidFill>
                  <a:srgbClr val="FF385C"/>
                </a:solidFill>
                <a:latin typeface="Pretendard"/>
              </a:defRPr>
            </a:pPr>
            <a:r>
              <a:t>-0.7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44368"/>
            <a:ext cx="4983480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99232"/>
            <a:ext cx="32004" cy="4572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35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프리미엄 비즈니스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255263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비즈니스 수요 안정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358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2800" b="1">
                <a:solidFill>
                  <a:srgbClr val="00A699"/>
                </a:solidFill>
                <a:latin typeface="Pretendard"/>
              </a:defRPr>
            </a:pPr>
            <a:r>
              <a:t>-0.8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02736"/>
            <a:ext cx="4983480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32004" cy="457200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6941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로컬 주거형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9136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가격 민감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69417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2800" b="1">
                <a:solidFill>
                  <a:srgbClr val="FC642D"/>
                </a:solidFill>
                <a:latin typeface="Pretendard"/>
              </a:defRPr>
            </a:pPr>
            <a:r>
              <a:t>-0.9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61104"/>
            <a:ext cx="4983480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15968"/>
            <a:ext cx="32004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35254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가성비 신흥형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5720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매우 가격 민감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35254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2800" b="1">
                <a:solidFill>
                  <a:srgbClr val="4A90D9"/>
                </a:solidFill>
                <a:latin typeface="Pretendard"/>
              </a:defRPr>
            </a:pPr>
            <a:r>
              <a:t>-1.1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920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월 손익 계산서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228600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2340864"/>
            <a:ext cx="32004" cy="153619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395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  월 매출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395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ADR × 점유율 × 30일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7797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- 수수료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7797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플랫폼 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1638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- 운영비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1638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호스트 직접 입력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547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FF385C"/>
                </a:solidFill>
                <a:latin typeface="Pretendard"/>
              </a:defRPr>
            </a:pPr>
            <a:r>
              <a:t>= 월 순이익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5478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실시간 계산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1605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적정 요금 추천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4480560"/>
            <a:ext cx="5303520" cy="40233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4526280"/>
            <a:ext cx="32004" cy="310896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562856"/>
            <a:ext cx="822960" cy="237744"/>
          </a:xfrm>
          <a:prstGeom prst="roundRect">
            <a:avLst>
              <a:gd name="adj" fmla="val 12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45720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신규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55371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리뷰 &lt; 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5371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C642D"/>
                </a:solidFill>
                <a:latin typeface="Pretendard"/>
              </a:defRPr>
            </a:pPr>
            <a:r>
              <a:t>→ 시장 하위 25%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4956048"/>
            <a:ext cx="5303520" cy="40233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5001768"/>
            <a:ext cx="32004" cy="31089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26480" y="5038344"/>
            <a:ext cx="822960" cy="237744"/>
          </a:xfrm>
          <a:prstGeom prst="roundRect">
            <a:avLst>
              <a:gd name="adj" fmla="val 12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504748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안정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0292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리뷰 10~50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502920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00A699"/>
                </a:solidFill>
                <a:latin typeface="Pretendard"/>
              </a:defRPr>
            </a:pPr>
            <a:r>
              <a:t>→ 시장 평균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0" y="5431536"/>
            <a:ext cx="5303520" cy="40233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5477256"/>
            <a:ext cx="32004" cy="31089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126480" y="5513832"/>
            <a:ext cx="822960" cy="237744"/>
          </a:xfrm>
          <a:prstGeom prst="roundRect">
            <a:avLst>
              <a:gd name="adj" fmla="val 1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552297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프리미엄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55046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50+, 슈퍼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550468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→ 시장 상위 25%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24/7 위험 감지 — 5개 규칙이 쉬지 않습니다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3657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데이터 변경 시 자동 실행 → 리스크 분류 → HIGH 발견 시 즉시 이메일 알림. 호스트 개입 없이 24시간 동작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유령수익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리뷰 0 + 수익 &gt; 1천만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79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79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점유율-수익</a:t>
            </a:r>
          </a:p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불일치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점유율 0% &amp; 수익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1783080"/>
            <a:ext cx="1828800" cy="32004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7492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C642D"/>
                </a:solidFill>
                <a:latin typeface="Pretendard"/>
              </a:defRPr>
            </a:pPr>
            <a: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가격 이상치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ADR &gt; 구평균+3σ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78040" y="1783080"/>
            <a:ext cx="1828800" cy="32004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2376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C642D"/>
                </a:solidFill>
                <a:latin typeface="Pretendard"/>
              </a:defRPr>
            </a:pPr>
            <a: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유령 액티브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Active &amp; 수익 &lt; 5백만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26880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7260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6988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평점 없는</a:t>
            </a:r>
          </a:p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고수익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19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수익 &gt; 1천만 &amp; 평점 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33832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자동 실행 플로우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데이터 변경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hooks.py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78608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61488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98648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R1~R5 검사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98648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detector.py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0016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82896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0056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IQR / Z-score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0056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scorer.py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21424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04304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41464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리스크 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41464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HIGH / MEDIUM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42832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25712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25712" y="3758183"/>
            <a:ext cx="32004" cy="5760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62872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이메일 알림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62872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자동 발송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" y="470916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0080" y="4764024"/>
            <a:ext cx="32004" cy="39319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00A699"/>
                </a:solidFill>
                <a:latin typeface="Pretendard"/>
              </a:defRPr>
            </a:pPr>
            <a:r>
              <a:t>Claude Code Hooks 기반 — 데이터 파일 수정 시 자동 트리거, 중복 알림 7일 필터, HIGH 리스크(2개+ 규칙) 시에만 이메일 발송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39496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" y="5449824"/>
            <a:ext cx="32004" cy="7132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59" y="5486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14건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59" y="5852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전체 플래그 탐지 (R1: 14건, R3: 3건)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35040" y="539496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35040" y="5449824"/>
            <a:ext cx="32004" cy="7132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7920" y="5486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HIGH 1건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5852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listing_idx=5996 · 송파구 · ₩20.8M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Multi-Agent AI — 분석 자동화 엔진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3657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Orchestrator가 6개 에이전트를 순차 호출, 도메인 리서치부터 모델 검증까지 End-to-End 자동화. Enterprise 상품의 핵심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Orchestrator — SOP 기반 순차 호출 · JSON 산출물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0">
                <a:solidFill>
                  <a:srgbClr val="B0B0B0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338328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19" y="2606040"/>
            <a:ext cx="320040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Domain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도메인 지식 수집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606040"/>
            <a:ext cx="338328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606040"/>
            <a:ext cx="3200400" cy="27432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0175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H1~H9 자동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606040"/>
            <a:ext cx="338328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606040"/>
            <a:ext cx="32004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EDA ×3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0175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38개 차트 + 통계 검증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20440"/>
            <a:ext cx="338328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19" y="3520440"/>
            <a:ext cx="320040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657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Feature Eng.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9319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14개 파생변수 설계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520440"/>
            <a:ext cx="338328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520440"/>
            <a:ext cx="320040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657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Modeling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9319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LightGBM + SHAP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520440"/>
            <a:ext cx="338328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59" y="3520440"/>
            <a:ext cx="3200400" cy="274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9" y="3657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Model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39319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누수 검출 · 품질 평가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31596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0">
                <a:solidFill>
                  <a:srgbClr val="B0B0B0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617720"/>
            <a:ext cx="2514600" cy="868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672583"/>
            <a:ext cx="32004" cy="7589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70915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200" b="1">
                <a:solidFill>
                  <a:srgbClr val="FF385C"/>
                </a:solidFill>
                <a:latin typeface="Pretendard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166359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가설 검증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37560" y="4617720"/>
            <a:ext cx="2514600" cy="868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37560" y="4672583"/>
            <a:ext cx="32004" cy="75895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470915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200" b="1">
                <a:solidFill>
                  <a:srgbClr val="00A699"/>
                </a:solidFill>
                <a:latin typeface="Pretendard"/>
              </a:defRPr>
            </a:pPr>
            <a: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66359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파생변수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4617720"/>
            <a:ext cx="2514600" cy="868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4672583"/>
            <a:ext cx="32004" cy="7589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470915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200" b="1">
                <a:solidFill>
                  <a:srgbClr val="4A90D9"/>
                </a:solidFill>
                <a:latin typeface="Pretendard"/>
              </a:defRPr>
            </a:pPr>
            <a:r>
              <a:t>38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5166359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차트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20" y="4617720"/>
            <a:ext cx="2514600" cy="868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32520" y="4672583"/>
            <a:ext cx="32004" cy="7589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470915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200" b="1">
                <a:solidFill>
                  <a:srgbClr val="8E44AD"/>
                </a:solidFill>
                <a:latin typeface="Pretendard"/>
              </a:defRPr>
            </a:pPr>
            <a:r>
              <a:t>R² 0.85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166359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모델 성능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호스트가 지금 바로 실행할 액션 Top 3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SHAP 분석 + 가설 검증 결과를 종합한 우선순위. 대시보드에서 호스트별 맞춤 추천 자동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6576" cy="301752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488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리뷰 요청</a:t>
            </a:r>
          </a:p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자동화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788920"/>
            <a:ext cx="29260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SHAP 1위 (중요도 0.51)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기대효과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000" b="1">
                <a:solidFill>
                  <a:srgbClr val="FF385C"/>
                </a:solidFill>
                <a:latin typeface="Pretendard"/>
              </a:defRPr>
            </a:pPr>
            <a:r>
              <a:t>+5~10%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리뷰 10건당 RevPAR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663440"/>
            <a:ext cx="1097280" cy="274320"/>
          </a:xfrm>
          <a:prstGeom prst="roundRect">
            <a:avLst>
              <a:gd name="adj" fmla="val 12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817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00A699"/>
                </a:solidFill>
                <a:latin typeface="Pretendard"/>
              </a:defRPr>
            </a:pPr>
            <a:r>
              <a:t>난이도: 낮음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92024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2011680"/>
            <a:ext cx="36576" cy="301752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6280" y="2148840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1762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1488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슈퍼호스트</a:t>
            </a:r>
          </a:p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달성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788920"/>
            <a:ext cx="29260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9260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근거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1546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H1 검증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5204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기대효과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74903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000" b="1">
                <a:solidFill>
                  <a:srgbClr val="00A699"/>
                </a:solidFill>
                <a:latin typeface="Pretendard"/>
              </a:defRPr>
            </a:pPr>
            <a:r>
              <a:t>+83.1%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2976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RevPAR 프리미엄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663440"/>
            <a:ext cx="1097280" cy="274320"/>
          </a:xfrm>
          <a:prstGeom prst="roundRect">
            <a:avLst>
              <a:gd name="adj" fmla="val 12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6817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C642D"/>
                </a:solidFill>
                <a:latin typeface="Pretendard"/>
              </a:defRPr>
            </a:pPr>
            <a:r>
              <a:t>난이도: 중간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192024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2011680"/>
            <a:ext cx="36576" cy="3017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83879" y="2148840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21762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59" y="21488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최소숙박</a:t>
            </a:r>
          </a:p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2~3박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2788920"/>
            <a:ext cx="29260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9" y="29260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근거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31546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H4 검증 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5204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기대효과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374903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000" b="1">
                <a:solidFill>
                  <a:srgbClr val="4A90D9"/>
                </a:solidFill>
                <a:latin typeface="Pretendard"/>
              </a:defRPr>
            </a:pPr>
            <a:r>
              <a:t>최적점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42976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RevPAR 수익 극대화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4663440"/>
            <a:ext cx="1097280" cy="274320"/>
          </a:xfrm>
          <a:prstGeom prst="roundRect">
            <a:avLst>
              <a:gd name="adj" fmla="val 12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46817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00A699"/>
                </a:solidFill>
                <a:latin typeface="Pretendard"/>
              </a:defRPr>
            </a:pPr>
            <a:r>
              <a:t>난이도: 낮음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349240"/>
            <a:ext cx="10789920" cy="4114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5404104"/>
            <a:ext cx="32004" cy="301752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223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+4개 추가 액션 (사진 21~35장 · 평점 4.85~4.95 · 추가요금 제거 · Entire Home 전환) → 대시보드에서 호스트별 맞춤 제공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데이터로 호스트의 수익을 설계하다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0">
                <a:solidFill>
                  <a:srgbClr val="767676"/>
                </a:solidFill>
                <a:latin typeface="Pretendard"/>
              </a:defRPr>
            </a:pPr>
            <a:r>
              <a:t>분석 → 모델 → 대시보드 → 자동화 → 액션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6576" cy="164592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200" b="1">
                <a:solidFill>
                  <a:srgbClr val="FF385C"/>
                </a:solidFill>
                <a:latin typeface="Pretendard"/>
              </a:defRPr>
            </a:pPr>
            <a:r>
              <a:t>R² = 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Dual Model로</a:t>
            </a:r>
          </a:p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RevPAR의 85% 설명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36576" cy="164592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200" b="1">
                <a:solidFill>
                  <a:srgbClr val="00A699"/>
                </a:solidFill>
                <a:latin typeface="Pretendard"/>
              </a:defRPr>
            </a:pPr>
            <a:r>
              <a:t>5컴포넌트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건강점수로</a:t>
            </a:r>
          </a:p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숙소 상태 종합 진단 (A~F)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36576" cy="1645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200" b="1">
                <a:solidFill>
                  <a:srgbClr val="4A90D9"/>
                </a:solidFill>
                <a:latin typeface="Pretendard"/>
              </a:defRPr>
            </a:pPr>
            <a:r>
              <a:t>5규칙 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위험 감지 엔진이</a:t>
            </a:r>
          </a:p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쉬지 않고 자동 감시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36576" cy="1645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200" b="1">
                <a:solidFill>
                  <a:srgbClr val="8E44AD"/>
                </a:solidFill>
                <a:latin typeface="Pretendard"/>
              </a:defRPr>
            </a:pPr>
            <a:r>
              <a:t>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46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분석 → 대시보드 →</a:t>
            </a:r>
          </a:p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자동화 → AI 시스템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6072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338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이 프로젝트는 분석에서 끝나지 않습니다. 호스트의 행동을 바꿉니다.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5447" y="1554480"/>
            <a:ext cx="6400800" cy="3200400"/>
          </a:xfrm>
          <a:prstGeom prst="roundRect">
            <a:avLst>
              <a:gd name="adj" fmla="val 15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447" y="21031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5600" b="1">
                <a:solidFill>
                  <a:srgbClr val="FFFFFF"/>
                </a:solidFill>
                <a:latin typeface="Pretendard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447" y="3200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000" b="0">
                <a:solidFill>
                  <a:srgbClr val="FFFFFF"/>
                </a:solidFill>
                <a:latin typeface="Pretendard"/>
              </a:defRPr>
            </a:pPr>
            <a:r>
              <a:t>질문과 의견을 환영합니다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4조 · 데이터분석 부트캠프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
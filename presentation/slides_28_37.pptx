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비즈니스 모델 — 무료에서 시작, 단계별 확장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무료 위험 감지로 진입장벽 제거 → 가치를 경험한 호스트가 유료 전환하는 Freemium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484848"/>
                </a:solidFill>
                <a:latin typeface="Pretendard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1">
                <a:solidFill>
                  <a:srgbClr val="00A699"/>
                </a:solidFill>
                <a:latin typeface="Pretendard"/>
              </a:defRPr>
            </a:pPr>
            <a:r>
              <a:t>무료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3246120"/>
            <a:ext cx="2377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204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숙소 사전 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23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위험 신호 알림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262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이메일 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37033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4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484848"/>
                </a:solidFill>
                <a:latin typeface="Pretendard"/>
              </a:defRPr>
            </a:pPr>
            <a:r>
              <a:t>Basic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788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1">
                <a:solidFill>
                  <a:srgbClr val="FF385C"/>
                </a:solidFill>
                <a:latin typeface="Pretendard"/>
              </a:defRPr>
            </a:pPr>
            <a:r>
              <a:t>W9,900/월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3246120"/>
            <a:ext cx="2377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5204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수익 예측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23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기본 최적화 가이드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5262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행동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7" y="37033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4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96596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331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788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문의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246120"/>
            <a:ext cx="237744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5204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· AI 에이전트 자동분석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023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· 맞춤 가설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5262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· 자동 리포팅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분석이 끝이 아니다 — 자동화로 연결한다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FF385C"/>
                </a:solidFill>
                <a:latin typeface="Pretendard"/>
              </a:rPr>
              <a:t>인사이트 :  </a:t>
            </a:r>
            <a:r>
              <a:rPr sz="1500" b="0">
                <a:solidFill>
                  <a:srgbClr val="484848"/>
                </a:solidFill>
                <a:latin typeface="Pretendard"/>
              </a:rPr>
              <a:t>'분석 → 대시보드 → 자동화'까지 이어지는 </a:t>
            </a:r>
            <a:r>
              <a:rPr sz="1500" b="1">
                <a:solidFill>
                  <a:srgbClr val="484848"/>
                </a:solidFill>
                <a:latin typeface="Pretendard"/>
              </a:rPr>
              <a:t>End-to-End 체계</a:t>
            </a:r>
            <a:r>
              <a:rPr sz="1500" b="0">
                <a:solidFill>
                  <a:srgbClr val="484848"/>
                </a:solidFill>
                <a:latin typeface="Pretendard"/>
              </a:rPr>
              <a:t>를 구축했습니다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810512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3120" y="2240280"/>
            <a:ext cx="640080" cy="64008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2860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이메일 진단 리포트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356616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3584448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무료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4114800"/>
            <a:ext cx="2377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34440" y="445312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3891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숙소 사전 진단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49560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892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시장 위치 분석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45896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5394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개선 포인트 제안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38404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4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1810512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178308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0" y="2240280"/>
            <a:ext cx="640080" cy="64008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2860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0632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위험 감지 자동화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356616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584448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무료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4114800"/>
            <a:ext cx="2377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00600" y="445312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43891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5가지 규칙 엔진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49560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892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통계 보조 검사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0600" y="545896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5394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이메일 알림 발송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3527" y="38404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4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178308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35440" y="224028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22860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0632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AI 에이전트 분석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15400" y="356616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3584448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385C"/>
                </a:solidFill>
                <a:latin typeface="Pretendard"/>
              </a:defRPr>
            </a:pPr>
            <a:r>
              <a:t>Enterprise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4114800"/>
            <a:ext cx="237744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66760" y="445312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43891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FFFFFF"/>
                </a:solidFill>
                <a:latin typeface="Pretendard"/>
              </a:defRPr>
            </a:pPr>
            <a:r>
              <a:t>6개 에이전트 자동 호출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49560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4892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FFFFFF"/>
                </a:solidFill>
                <a:latin typeface="Pretendard"/>
              </a:defRPr>
            </a:pPr>
            <a:r>
              <a:t>가설 검증 자동화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66760" y="545896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5394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FFFFFF"/>
                </a:solidFill>
                <a:latin typeface="Pretendard"/>
              </a:defRPr>
            </a:pPr>
            <a:r>
              <a:t>자동 리포팅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6446520"/>
            <a:ext cx="1078992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무료: 숙소 진단 이메일 — 자동 발송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FF385C"/>
                </a:solidFill>
                <a:latin typeface="Pretendard"/>
              </a:rPr>
              <a:t>인사이트 :  </a:t>
            </a:r>
            <a:r>
              <a:rPr sz="1500" b="0">
                <a:solidFill>
                  <a:srgbClr val="484848"/>
                </a:solidFill>
                <a:latin typeface="Pretendard"/>
              </a:rPr>
              <a:t>호스트가 숙소 정보만 입력하면 AI가 자동으로 시장 분석 → </a:t>
            </a:r>
            <a:r>
              <a:rPr sz="1500" b="1">
                <a:solidFill>
                  <a:srgbClr val="484848"/>
                </a:solidFill>
                <a:latin typeface="Pretendard"/>
              </a:rPr>
              <a:t>맞춤형 진단 리포트</a:t>
            </a:r>
            <a:r>
              <a:rPr sz="1500" b="0">
                <a:solidFill>
                  <a:srgbClr val="484848"/>
                </a:solidFill>
                <a:latin typeface="Pretendard"/>
              </a:rPr>
              <a:t>를 이메일로 발송합니다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800" b="1">
                <a:solidFill>
                  <a:srgbClr val="484848"/>
                </a:solidFill>
                <a:latin typeface="Pretendard"/>
              </a:defRPr>
            </a:pPr>
            <a:r>
              <a:t>자동 발송 플로우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417320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417320" cy="3657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5860" y="2377440"/>
            <a:ext cx="365760" cy="36576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5860" y="239572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834639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정보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063239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자치구 · 유형</a:t>
            </a:r>
          </a:p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가격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2651760"/>
            <a:ext cx="10972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194560"/>
            <a:ext cx="1417320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2194560"/>
            <a:ext cx="1417320" cy="3657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57500" y="2377440"/>
            <a:ext cx="365760" cy="36576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7500" y="239572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834639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AI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063239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시장 위치 ·</a:t>
            </a:r>
          </a:p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수익 예측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7" y="2651760"/>
            <a:ext cx="10972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59" y="2194560"/>
            <a:ext cx="1417320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59" y="2194560"/>
            <a:ext cx="14173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49140" y="2377440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9140" y="239572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9" y="2834639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이메일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3063239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HTML 리포트</a:t>
            </a:r>
          </a:p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자동 발송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800" b="1">
                <a:solidFill>
                  <a:srgbClr val="484848"/>
                </a:solidFill>
                <a:latin typeface="Pretendard"/>
              </a:defRPr>
            </a:pPr>
            <a:r>
              <a:t>이메일에 포함되는 내용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977640"/>
            <a:ext cx="5029200" cy="53035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032504"/>
            <a:ext cx="36576" cy="42062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59" y="4105656"/>
            <a:ext cx="960120" cy="256032"/>
          </a:xfrm>
          <a:prstGeom prst="roundRect">
            <a:avLst>
              <a:gd name="adj" fmla="val 8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114800"/>
            <a:ext cx="96012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시장 위치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4114800"/>
            <a:ext cx="333756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서울 전체 / 자치구 내 수익 백분위 순위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5029200" cy="53035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672584"/>
            <a:ext cx="36576" cy="420624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59" y="4745736"/>
            <a:ext cx="960120" cy="256032"/>
          </a:xfrm>
          <a:prstGeom prst="roundRect">
            <a:avLst>
              <a:gd name="adj" fmla="val 8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4754880"/>
            <a:ext cx="96012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수익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4754880"/>
            <a:ext cx="333756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구 평균 대비 · 최근 3개월 추세 · 유형별 비교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257800"/>
            <a:ext cx="5029200" cy="53035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312664"/>
            <a:ext cx="36576" cy="42062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59" y="5385816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394960"/>
            <a:ext cx="1115568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경쟁력 진단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21408" y="5394960"/>
            <a:ext cx="31821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같은 유형 숙소 대비 포지셔닝 (4분면)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897880"/>
            <a:ext cx="5029200" cy="53035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5952744"/>
            <a:ext cx="36576" cy="42062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59" y="6025896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6035040"/>
            <a:ext cx="1115568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개선 포인트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21408" y="6035040"/>
            <a:ext cx="31821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사진 · 요금 · 최소숙박일 등 구체적 행동 제안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1783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800" b="1">
                <a:solidFill>
                  <a:srgbClr val="484848"/>
                </a:solidFill>
                <a:latin typeface="Pretendard"/>
              </a:defRPr>
            </a:pPr>
            <a:r>
              <a:t>이메일 미리보기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80176" y="2185416"/>
            <a:ext cx="5394960" cy="4434840"/>
          </a:xfrm>
          <a:prstGeom prst="roundRect">
            <a:avLst>
              <a:gd name="adj" fmla="val 4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943600" y="2148840"/>
            <a:ext cx="539496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0" y="2148840"/>
            <a:ext cx="5394960" cy="292608"/>
          </a:xfrm>
          <a:prstGeom prst="roundRect">
            <a:avLst>
              <a:gd name="adj" fmla="val 4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2386584"/>
            <a:ext cx="5394960" cy="54864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080760" y="2240280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17920" y="2240280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55080" y="2240280"/>
            <a:ext cx="91440" cy="9144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0" y="2203704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0840" y="2208276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800" b="0">
                <a:solidFill>
                  <a:srgbClr val="B0B0B0"/>
                </a:solidFill>
                <a:latin typeface="Pretendard"/>
              </a:defRPr>
            </a:pPr>
            <a:r>
              <a:t>https://mail.google.com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698480" y="2203704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98480" y="2208276"/>
            <a:ext cx="457200" cy="1828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700" b="1">
                <a:solidFill>
                  <a:srgbClr val="FFFFFF"/>
                </a:solidFill>
                <a:latin typeface="Pretendard"/>
              </a:defRPr>
            </a:pPr>
            <a:r>
              <a:t>● FREE</a:t>
            </a:r>
          </a:p>
        </p:txBody>
      </p:sp>
      <p:pic>
        <p:nvPicPr>
          <p:cNvPr id="60" name="Picture 59" descr="dashboard_free_3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68879"/>
            <a:ext cx="5303520" cy="36830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24/7 위험 감지 — 5개 규칙이 쉬지 않습니다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4864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3657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데이터 변경 시 자동 실행 → 리스크 분류 → HIGH 발견 시 즉시 이메일 알림. 호스트 개입 없이 24시간 동작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19" y="1783080"/>
            <a:ext cx="1828800" cy="3200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F385C"/>
                </a:solidFill>
                <a:latin typeface="Pretendard"/>
              </a:defRPr>
            </a:pPr>
            <a:r>
              <a:t>높음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유령수익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리뷰 0 + 수익 &gt; 1천만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1783080"/>
            <a:ext cx="1828800" cy="3200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79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F385C"/>
                </a:solidFill>
                <a:latin typeface="Pretendard"/>
              </a:defRPr>
            </a:pPr>
            <a:r>
              <a:t>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79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점유율-수익</a:t>
            </a:r>
          </a:p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불일치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점유율 0% &amp; 수익 &gt;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1783080"/>
            <a:ext cx="1828800" cy="32004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7492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C642D"/>
                </a:solidFill>
                <a:latin typeface="Pretendard"/>
              </a:defRPr>
            </a:pPr>
            <a:r>
              <a:t>중간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가격 이상치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ADR &gt; 구평균+3σ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78040" y="1783080"/>
            <a:ext cx="1828800" cy="32004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2376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C642D"/>
                </a:solidFill>
                <a:latin typeface="Pretendard"/>
              </a:defRPr>
            </a:pPr>
            <a:r>
              <a:t>중간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유령 액티브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04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Active &amp; 수익 &lt; 5백만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26880" y="1783080"/>
            <a:ext cx="1828800" cy="3200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7260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6988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988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F385C"/>
                </a:solidFill>
                <a:latin typeface="Pretendard"/>
              </a:defRPr>
            </a:pPr>
            <a:r>
              <a:t>높음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평점 없는</a:t>
            </a:r>
          </a:p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고수익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19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수익 &gt; 1천만 &amp; 평점 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33832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자동 실행 플로우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데이터 변경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hooks.py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78608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61488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98648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R1~R5 검사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98648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detector.py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0016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82896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0056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IQR / Z-score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0056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scorer.py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21424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04304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41464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리스크 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41464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HIGH / MEDIUM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42832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25712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25712" y="3758183"/>
            <a:ext cx="32004" cy="5760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62872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이메일 알림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62872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자동 발송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" y="470916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0080" y="4764024"/>
            <a:ext cx="32004" cy="39319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00A699"/>
                </a:solidFill>
                <a:latin typeface="Pretendard"/>
              </a:defRPr>
            </a:pPr>
            <a:r>
              <a:t>Claude Code Hooks 기반 — 데이터 파일 수정 시 자동 트리거, 중복 알림 7일 필터, HIGH 리스크(2개+ 규칙) 시에만 이메일 발송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539496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0080" y="5449824"/>
            <a:ext cx="32004" cy="7132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59" y="5486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600" b="1">
                <a:solidFill>
                  <a:srgbClr val="FF385C"/>
                </a:solidFill>
                <a:latin typeface="Pretendard"/>
              </a:defRPr>
            </a:pPr>
            <a:r>
              <a:t>14건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59" y="58521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전체 플래그 탐지 (R1: 14건, R3: 3건)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35040" y="539496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35040" y="5449824"/>
            <a:ext cx="32004" cy="7132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17920" y="5486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600" b="1">
                <a:solidFill>
                  <a:srgbClr val="FF385C"/>
                </a:solidFill>
                <a:latin typeface="Pretendard"/>
              </a:defRPr>
            </a:pPr>
            <a:r>
              <a:t>HIGH 1건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5852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listing_idx=5996 · 송파구 · W20.8M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3200" b="1">
                <a:solidFill>
                  <a:srgbClr val="FFFFFF"/>
                </a:solidFill>
                <a:latin typeface="Pretendard"/>
              </a:defRPr>
            </a:pPr>
            <a:r>
              <a:t>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5486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호스트 컨설팅</a:t>
            </a:r>
          </a:p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대시보드</a:t>
            </a:r>
          </a:p>
        </p:txBody>
      </p:sp>
      <p:sp>
        <p:nvSpPr>
          <p:cNvPr id="6" name="Oval 5"/>
          <p:cNvSpPr/>
          <p:nvPr/>
        </p:nvSpPr>
        <p:spPr>
          <a:xfrm>
            <a:off x="5029200" y="1188720"/>
            <a:ext cx="320040" cy="32004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216152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1887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002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분석 결과를 호스트가 직접 탐색하고</a:t>
            </a:r>
          </a:p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즉시 행동으로 연결하는 의사결정 도구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2423160"/>
            <a:ext cx="320040" cy="32004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450592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FFFFFF"/>
                </a:solidFill>
                <a:latin typeface="Pretendard"/>
              </a:defRPr>
            </a:pPr>
            <a: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42316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핵심 기능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788920"/>
            <a:ext cx="594360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2834639"/>
            <a:ext cx="36576" cy="50292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2080" y="2880360"/>
            <a:ext cx="384048" cy="384048"/>
          </a:xfrm>
          <a:prstGeom prst="ellipse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898648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385C"/>
                </a:solidFill>
                <a:latin typeface="Pretendard"/>
              </a:defRPr>
            </a:pPr>
            <a:r>
              <a:t>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86207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시장 위치 4분면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108960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내 숙소의 경쟁력을 한눈에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493008"/>
            <a:ext cx="594360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3538727"/>
            <a:ext cx="36576" cy="50292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0" y="3584448"/>
            <a:ext cx="384048" cy="384048"/>
          </a:xfrm>
          <a:prstGeom prst="ellipse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602736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00A699"/>
                </a:solidFill>
                <a:latin typeface="Pretendard"/>
              </a:defRPr>
            </a:pPr>
            <a:r>
              <a:t>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56616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건강점수 게이지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81304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A~F 등급으로 숙소 상태 종합 진단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4197096"/>
            <a:ext cx="594360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4242816"/>
            <a:ext cx="36576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0" y="4288536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30682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4A90D9"/>
                </a:solidFill>
                <a:latin typeface="Pretendard"/>
              </a:defRPr>
            </a:pPr>
            <a:r>
              <a:t>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7024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수익 예측 시뮬레이터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517136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조건 변경 시 수익 변화를 즉시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4901183"/>
            <a:ext cx="594360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0" y="4946903"/>
            <a:ext cx="36576" cy="502920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12080" y="4992623"/>
            <a:ext cx="384048" cy="384048"/>
          </a:xfrm>
          <a:prstGeom prst="ellipse">
            <a:avLst/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5010912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C642D"/>
                </a:solidFill>
                <a:latin typeface="Pretendard"/>
              </a:defRPr>
            </a:pPr>
            <a: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497433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맞춤 행동 체크리스트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221223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우선순위별 개선 제안</a:t>
            </a:r>
          </a:p>
        </p:txBody>
      </p:sp>
      <p:sp>
        <p:nvSpPr>
          <p:cNvPr id="37" name="Oval 36"/>
          <p:cNvSpPr/>
          <p:nvPr/>
        </p:nvSpPr>
        <p:spPr>
          <a:xfrm>
            <a:off x="5029200" y="5742432"/>
            <a:ext cx="320040" cy="32004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5769864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FFFFFF"/>
                </a:solidFill>
                <a:latin typeface="Pretendard"/>
              </a:defRPr>
            </a:pPr>
            <a: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742432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사용자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78815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호스트 · 운영자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6245352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300216"/>
            <a:ext cx="36576" cy="21031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6272784"/>
            <a:ext cx="246888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100" b="1">
                <a:solidFill>
                  <a:srgbClr val="00A699"/>
                </a:solidFill>
                <a:latin typeface="Pretendard"/>
              </a:defRPr>
            </a:pPr>
            <a:r>
              <a:t>Streamlit 기반 · 실시간 · 모바일 지원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호스트 컨설팅 대시보드 — 핵심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호스트가 직접 조건을 입력하면 즉시 시장 위치 · 건강점수 · 수익 예측 · 최적 요금을 확인할 수 있는 올인원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Streamlit 기반 · 실시간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59152"/>
            <a:ext cx="36576" cy="76809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423160"/>
            <a:ext cx="411480" cy="320040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395728"/>
            <a:ext cx="402335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시장 위치 4분면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697480"/>
            <a:ext cx="4023359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내 숙소가 서울에서 어디에 있는지</a:t>
            </a:r>
          </a:p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한눈에 확인 (전체 · 자치구 · 유형별)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56432"/>
            <a:ext cx="36576" cy="76809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520440"/>
            <a:ext cx="411480" cy="320040"/>
          </a:xfrm>
          <a:prstGeom prst="roundRect">
            <a:avLst>
              <a:gd name="adj" fmla="val 1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3872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493008"/>
            <a:ext cx="402335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건강점수 게이지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794760"/>
            <a:ext cx="4023359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0~100점 + A~F 등급으로</a:t>
            </a:r>
          </a:p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숙소 상태 종합 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53712"/>
            <a:ext cx="36576" cy="7680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617720"/>
            <a:ext cx="411480" cy="32004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3600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590288"/>
            <a:ext cx="402335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수익 예측 KPI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892040"/>
            <a:ext cx="4023359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예측 수익 / 시장 대비 위치 /</a:t>
            </a:r>
          </a:p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개선 잠재력 시각화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7784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650992"/>
            <a:ext cx="36576" cy="7680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5715000"/>
            <a:ext cx="411480" cy="32004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73328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5687568"/>
            <a:ext cx="402335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AI 시장 진단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5989320"/>
            <a:ext cx="4023359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적정 요금 vs 현재 요금 비교</a:t>
            </a:r>
          </a:p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군집별 최적 가격 제안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2011680"/>
            <a:ext cx="5349240" cy="41605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2148840"/>
            <a:ext cx="5074920" cy="36576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17627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분석 결과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697480"/>
            <a:ext cx="146304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74320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900" b="0">
                <a:solidFill>
                  <a:srgbClr val="767676"/>
                </a:solidFill>
                <a:latin typeface="Pretendard"/>
              </a:defRPr>
            </a:pPr>
            <a:r>
              <a:t>전체 1박 요금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971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W141,517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2697480"/>
            <a:ext cx="146304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19" y="274320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900" b="0">
                <a:solidFill>
                  <a:srgbClr val="767676"/>
                </a:solidFill>
                <a:latin typeface="Pretendard"/>
              </a:defRPr>
            </a:pPr>
            <a:r>
              <a:t>하루 실수익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9" y="2971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W84,910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2697480"/>
            <a:ext cx="146304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19" y="274320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900" b="0">
                <a:solidFill>
                  <a:srgbClr val="767676"/>
                </a:solidFill>
                <a:latin typeface="Pretendard"/>
              </a:defRPr>
            </a:pPr>
            <a:r>
              <a:t>월 예상 순이익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19" y="2971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W1,930,886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520440"/>
            <a:ext cx="14630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54787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전체 예약률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60%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3520440"/>
            <a:ext cx="14630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354787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평일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19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0%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55480" y="3520440"/>
            <a:ext cx="14630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46919" y="354787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주말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19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20624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B0B0B0"/>
                </a:solidFill>
                <a:latin typeface="Pretendard"/>
              </a:defRPr>
            </a:pPr>
            <a:r>
              <a:t>* 실제 대시보드에서 조건별 실시간 시뮬레이션 가능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4572000"/>
            <a:ext cx="914400" cy="22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599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수익 요약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69480" y="4572000"/>
            <a:ext cx="914400" cy="22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69480" y="4599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요금 전략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75320" y="4572000"/>
            <a:ext cx="914400" cy="22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4599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주변 관광지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81160" y="4572000"/>
            <a:ext cx="914400" cy="22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81160" y="4599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운영 개선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287000" y="4572000"/>
            <a:ext cx="914400" cy="22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4599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지역 진단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5943600"/>
            <a:ext cx="10789920" cy="4114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" y="5998464"/>
            <a:ext cx="32004" cy="30175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60167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같은 지역 · 같은 유형 숙소 대비 상대 점수 → 호스트가 즉시 약점 파악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자동화 시스템 + AI 에이전트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4864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3657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Orchestrator가 6개 에이전트를 순차 호출, 도메인 리서치부터 모델 검증까지 End-to-End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FF385C"/>
                </a:solidFill>
                <a:latin typeface="Pretendard"/>
              </a:defRPr>
            </a:pPr>
            <a:r>
              <a:t>① 위험 감지 자동화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920240" cy="73152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데이터 변경</a:t>
            </a:r>
          </a:p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3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hooks.py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31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2103120"/>
            <a:ext cx="192024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5규칙</a:t>
            </a:r>
          </a:p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60603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detector.py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331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2896" y="2103120"/>
            <a:ext cx="192024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통계 보조</a:t>
            </a:r>
          </a:p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260603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scorer.py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31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4" y="2103120"/>
            <a:ext cx="192024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위험도</a:t>
            </a:r>
          </a:p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산출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260603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7일 중복 필터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331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2" y="2103120"/>
            <a:ext cx="1920240" cy="73152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이메일</a:t>
            </a:r>
          </a:p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발송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60603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email_alert.py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063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00A699"/>
                </a:solidFill>
                <a:latin typeface="Pretendard"/>
              </a:defRPr>
            </a:pPr>
            <a:r>
              <a:t>② AI 에이전트 구성 (Enterprise)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5486400" cy="3657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3429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오케스트레이터 (순차 호출)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886200"/>
            <a:ext cx="160020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도메인 연구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도메인 지식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50591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96311" y="3886200"/>
            <a:ext cx="1600200" cy="27432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42032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가설 생성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42032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H1~H9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61104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06824" y="3886200"/>
            <a:ext cx="16002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52544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탐색적 분석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2544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38개 차트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71616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17336" y="3886200"/>
            <a:ext cx="160020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5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변수 설계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3055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14개 변수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82127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27848" y="3886200"/>
            <a:ext cx="1600200" cy="274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7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모델링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3567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ML+AI분석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92640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38360" y="3886200"/>
            <a:ext cx="1600200" cy="274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0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모델 검수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품질 평가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4892040"/>
            <a:ext cx="10789920" cy="45720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9560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700" b="1">
                <a:solidFill>
                  <a:srgbClr val="FF385C"/>
                </a:solidFill>
                <a:latin typeface="Pretendard"/>
              </a:defRPr>
            </a:pPr>
            <a:r>
              <a:t>결과: 9개 가설 검증 / 14개 변수 설계 / 정확도 R²=0.85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486400"/>
            <a:ext cx="251460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5541264"/>
            <a:ext cx="32004" cy="62179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5595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FF385C"/>
                </a:solidFill>
                <a:latin typeface="Pretendard"/>
              </a:defRPr>
            </a:pPr>
            <a: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94360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가설 검증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37560" y="5486400"/>
            <a:ext cx="251460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37560" y="5541264"/>
            <a:ext cx="32004" cy="62179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0" y="55595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00A699"/>
                </a:solidFill>
                <a:latin typeface="Pretendard"/>
              </a:defRPr>
            </a:pPr>
            <a: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594360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파생변수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35040" y="5486400"/>
            <a:ext cx="251460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35040" y="5541264"/>
            <a:ext cx="32004" cy="62179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72200" y="55595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4A90D9"/>
                </a:solidFill>
                <a:latin typeface="Pretendard"/>
              </a:defRPr>
            </a:pPr>
            <a:r>
              <a:t>38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594360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차트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32520" y="5486400"/>
            <a:ext cx="251460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32520" y="5541264"/>
            <a:ext cx="32004" cy="6217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69680" y="55595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8E44AD"/>
                </a:solidFill>
                <a:latin typeface="Pretendard"/>
              </a:defRPr>
            </a:pPr>
            <a:r>
              <a:t>R² 0.85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9680" y="594360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모델 성능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데이터가 증명한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767676"/>
                </a:solidFill>
                <a:latin typeface="Pretendard"/>
              </a:defRPr>
            </a:pPr>
            <a:r>
              <a:t>32,061개 리스팅 · 9개 가설 · 12개월의 데이터가 도달한 결론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554480"/>
            <a:ext cx="9966960" cy="1325880"/>
          </a:xfrm>
          <a:prstGeom prst="roundRect">
            <a:avLst>
              <a:gd name="adj" fmla="val 6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45720" cy="11430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19" y="164592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7200" b="1">
                <a:solidFill>
                  <a:srgbClr val="FF385C"/>
                </a:solidFill>
                <a:latin typeface="Pretendard"/>
              </a:defRPr>
            </a:pPr>
            <a: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8308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호스트가 바꿀 수 있는 것만으로, 수익의 85%가 결정됩니다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4028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LightGBM · 16개 호스트 통제 변수 · 5-Fold CV R²=0.847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" y="3136391"/>
            <a:ext cx="3410712" cy="16002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0372" y="3108960"/>
            <a:ext cx="341071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" y="3108960"/>
            <a:ext cx="3410712" cy="3657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" y="329184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600" b="1">
                <a:solidFill>
                  <a:srgbClr val="FF385C"/>
                </a:solidFill>
                <a:latin typeface="Pretendard"/>
              </a:defRPr>
            </a:pPr>
            <a:r>
              <a:t>+83.1%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" y="3886200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슈퍼호스트 프리미엄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" y="4160520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₩79,087 vs ₩43,201</a:t>
            </a:r>
          </a:p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가장 강력한 수익 레버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7116" y="3136391"/>
            <a:ext cx="3410712" cy="16002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29684" y="3108960"/>
            <a:ext cx="341071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9684" y="3108960"/>
            <a:ext cx="3410712" cy="3657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6844" y="329184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4200" b="1">
                <a:solidFill>
                  <a:srgbClr val="00A699"/>
                </a:solidFill>
                <a:latin typeface="Pretendard"/>
              </a:defRPr>
            </a:pPr>
            <a:r>
              <a:t>54.3%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6844" y="3886200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시장 절반이 멈춰있다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6844" y="4160520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17,399개 Dormant 리스팅</a:t>
            </a:r>
          </a:p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위기 속에 기회가 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6427" y="3136391"/>
            <a:ext cx="3410712" cy="16002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68996" y="3108960"/>
            <a:ext cx="341071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68996" y="3108960"/>
            <a:ext cx="341071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6156" y="329184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600" b="1">
                <a:solidFill>
                  <a:srgbClr val="4A90D9"/>
                </a:solidFill>
                <a:latin typeface="Pretendard"/>
              </a:defRPr>
            </a:pPr>
            <a:r>
              <a:t>4.9 &gt; 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6156" y="3886200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완벽주의의 역설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6156" y="4160520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₩66,586 vs ₩58,206</a:t>
            </a:r>
          </a:p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만점이 최선은 아니다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8" y="4937760"/>
            <a:ext cx="2514600" cy="502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8" y="4983480"/>
            <a:ext cx="32004" cy="41148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" y="500176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실시간 대시보드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" y="521208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호스트 의사결정 도구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42716" y="4937760"/>
            <a:ext cx="2514600" cy="502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42716" y="4983480"/>
            <a:ext cx="32004" cy="41148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79876" y="500176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24/7 위험 감시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9876" y="521208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5규칙 자동 탐지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12764" y="4937760"/>
            <a:ext cx="2514600" cy="502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12764" y="4983480"/>
            <a:ext cx="32004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9924" y="500176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무료 이메일 진단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9924" y="521208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숙소 사전 분석 리포트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82812" y="4937760"/>
            <a:ext cx="2514600" cy="502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2812" y="4983480"/>
            <a:ext cx="32004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19972" y="500176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AI 에이전트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9972" y="521208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6-Agent E2E 자동화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66928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7424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이 프로젝트는 분석에서 끝나지 않습니다.  호스트의 다음 행동을 설계합니다.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한계점 및 향후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700" b="1">
                <a:solidFill>
                  <a:srgbClr val="484848"/>
                </a:solidFill>
                <a:latin typeface="Pretendard"/>
              </a:defRPr>
            </a:pPr>
            <a:r>
              <a:t>현재 한계점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164592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6420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계절성 및 이벤트 미반영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0195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명절, 대형 행사, 계절 변동성 등 외부 요인이 모델에 포함되지 않음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450592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4688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50592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규제 영향 미반영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0662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2025-10-16 시행된 규제 이후 데이터가 분석에 반영되지 않음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3255264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2735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5526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정적 배치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1129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실시간 데이터 처리가 아닌 배치 방식으로 즉각적인 대응 제한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4059936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07822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59936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단일 시점 예측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31596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다기간 예측 및 시나리오 분석 기능 부재로 전략 수립 제약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" y="4864608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8828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864608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웹 배포 미완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206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호스트가 직접 접근 가능한 웹 서비스로 배포되지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1430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700" b="1">
                <a:solidFill>
                  <a:srgbClr val="484848"/>
                </a:solidFill>
                <a:latin typeface="Pretendard"/>
              </a:defRPr>
            </a:pPr>
            <a:r>
              <a:t>향후 로드맵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1508760"/>
            <a:ext cx="36576" cy="9144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1508760"/>
            <a:ext cx="1005840" cy="228600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52704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단기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828800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규제 이후 데이터 재수집 및 모델 재학습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574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2025-10-16 규제 시행 이후 시장 변화를 반영한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데이터 재수집 및 LightGBM 모델 재학습 진행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560320"/>
            <a:ext cx="36576" cy="9144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2560320"/>
            <a:ext cx="1005840" cy="228600"/>
          </a:xfrm>
          <a:prstGeom prst="roundRect">
            <a:avLst>
              <a:gd name="adj" fmla="val 1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57860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2026 상반기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880360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실시간 스트리밍 파이프라인 구축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10896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배치 방식에서 실시간 처리로 전환하여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즉각적인 이상 탐지 및 예측 지원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611879"/>
            <a:ext cx="36576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63640" y="3611879"/>
            <a:ext cx="1005840" cy="22860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63016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2026 하반기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931920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다기간 예측 및 시나리오 분석 확장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16052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1개월/3개월/6개월 예측 및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What-if 시나리오 분석 기능 추가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663440"/>
            <a:ext cx="36576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63640" y="4663440"/>
            <a:ext cx="1005840" cy="22860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681727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장기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983479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웹 배포 및 접근성(WCAG) 고도화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212079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호스트 직접 접근 가능한 웹 서비스 배포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및 WCAG 2.1 AA 수준 접근성 준수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943600"/>
            <a:ext cx="10789920" cy="41148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5998464"/>
            <a:ext cx="32004" cy="30175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60167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00A699"/>
                </a:solidFill>
                <a:latin typeface="Pretendard"/>
              </a:defRPr>
            </a:pPr>
            <a:r>
              <a:t>지속적인 개선과 확장을 통해 호스트와 플랫폼 모두에게 실질적인 가치를 제공하는 시스템으로 발전시켜 나가겠습니다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95247" y="731520"/>
            <a:ext cx="9601200" cy="3840480"/>
          </a:xfrm>
          <a:prstGeom prst="roundRect">
            <a:avLst>
              <a:gd name="adj" fmla="val 15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5247" y="16459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6400" b="1">
                <a:solidFill>
                  <a:srgbClr val="FFFFFF"/>
                </a:solidFill>
                <a:latin typeface="Pretendard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247" y="283463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0">
                <a:solidFill>
                  <a:srgbClr val="FFFFFF"/>
                </a:solidFill>
                <a:latin typeface="Pretendard"/>
              </a:defRPr>
            </a:pPr>
            <a:r>
              <a:t>질문과 의견을 환영합니다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6847" y="3566160"/>
            <a:ext cx="685800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385C"/>
                </a:solidFill>
                <a:latin typeface="Pretendard"/>
              </a:defRPr>
            </a:pPr>
            <a:r>
              <a:t>팀 구매확정 · 김수빈 · 이영은 · 이정모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
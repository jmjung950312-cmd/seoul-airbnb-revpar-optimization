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분석이 끝이 아니다 — 자동화로 연결한다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FF385C"/>
                </a:solidFill>
                <a:latin typeface="Pretendard"/>
              </a:rPr>
              <a:t>인사이트 :  </a:t>
            </a:r>
            <a:r>
              <a:rPr sz="1500" b="0">
                <a:solidFill>
                  <a:srgbClr val="484848"/>
                </a:solidFill>
                <a:latin typeface="Pretendard"/>
              </a:rPr>
              <a:t>'분석 → 대시보드 → 자동화'까지 이어지는 </a:t>
            </a:r>
            <a:r>
              <a:rPr sz="1500" b="1">
                <a:solidFill>
                  <a:srgbClr val="484848"/>
                </a:solidFill>
                <a:latin typeface="Pretendard"/>
              </a:rPr>
              <a:t>End-to-End 체계</a:t>
            </a:r>
            <a:r>
              <a:rPr sz="1500" b="0">
                <a:solidFill>
                  <a:srgbClr val="484848"/>
                </a:solidFill>
                <a:latin typeface="Pretendard"/>
              </a:rPr>
              <a:t>를 구축했습니다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810512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20" y="2240280"/>
            <a:ext cx="640080" cy="64008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이메일 진단 리포트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411480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3444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숙소 사전 진단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시장 위치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개선 포인트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8" y="38404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1810512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0" y="2240280"/>
            <a:ext cx="640080" cy="64008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484848"/>
                </a:solidFill>
                <a:latin typeface="Pretendard"/>
              </a:defRPr>
            </a:pPr>
            <a:r>
              <a:t>위험 감지 자동화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무료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4114800"/>
            <a:ext cx="2377440" cy="137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0060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5가지 규칙 엔진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통계 보조 검사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060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484848"/>
                </a:solidFill>
                <a:latin typeface="Pretendard"/>
              </a:defRPr>
            </a:pPr>
            <a:r>
              <a:t>이메일 알림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7" y="38404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4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1783080"/>
            <a:ext cx="3291840" cy="4480560"/>
          </a:xfrm>
          <a:prstGeom prst="roundRect">
            <a:avLst>
              <a:gd name="adj" fmla="val 6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235440" y="2240280"/>
            <a:ext cx="640080" cy="64008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286000"/>
            <a:ext cx="640080" cy="5486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063239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AI 에이전트 분석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15400" y="3566160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3584448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1">
                <a:solidFill>
                  <a:srgbClr val="FF385C"/>
                </a:solidFill>
                <a:latin typeface="Pretendard"/>
              </a:defRPr>
            </a:pPr>
            <a:r>
              <a:t>Enterprise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4114800"/>
            <a:ext cx="2377440" cy="13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66760" y="445312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38912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6개 에이전트 자동 호출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95604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8920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가설 검증 자동화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5458968"/>
            <a:ext cx="73152" cy="73152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5394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FFFFFF"/>
                </a:solidFill>
                <a:latin typeface="Pretendard"/>
              </a:defRPr>
            </a:pPr>
            <a:r>
              <a:t>자동 리포팅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446520"/>
            <a:ext cx="1078992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무료: 숙소 진단 이메일 — 자동 발송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228600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50292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>
                <a:solidFill>
                  <a:srgbClr val="FF385C"/>
                </a:solidFill>
                <a:latin typeface="Pretendard"/>
              </a:rPr>
              <a:t>인사이트 :  </a:t>
            </a:r>
            <a:r>
              <a:rPr sz="1500" b="0">
                <a:solidFill>
                  <a:srgbClr val="484848"/>
                </a:solidFill>
                <a:latin typeface="Pretendard"/>
              </a:rPr>
              <a:t>호스트가 숙소 정보만 입력하면 AI가 자동으로 시장 분석 → </a:t>
            </a:r>
            <a:r>
              <a:rPr sz="1500" b="1">
                <a:solidFill>
                  <a:srgbClr val="484848"/>
                </a:solidFill>
                <a:latin typeface="Pretendard"/>
              </a:rPr>
              <a:t>맞춤형 진단 리포트</a:t>
            </a:r>
            <a:r>
              <a:rPr sz="1500" b="0">
                <a:solidFill>
                  <a:srgbClr val="484848"/>
                </a:solidFill>
                <a:latin typeface="Pretendard"/>
              </a:rPr>
              <a:t>를 이메일로 발송합니다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자동 발송 플로우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417320" cy="36576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5860" y="2377440"/>
            <a:ext cx="365760" cy="36576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586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정보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자치구 · 유형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가격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5688" y="2651760"/>
            <a:ext cx="10972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194560"/>
            <a:ext cx="1417320" cy="36576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57500" y="2377440"/>
            <a:ext cx="365760" cy="36576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AI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시장 위치 ·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수익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7" y="2651760"/>
            <a:ext cx="10972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800" b="0">
                <a:solidFill>
                  <a:srgbClr val="B0B0B0"/>
                </a:solidFill>
                <a:latin typeface="Pretendard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59" y="2194560"/>
            <a:ext cx="1417320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59" y="2194560"/>
            <a:ext cx="14173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9140" y="2377440"/>
            <a:ext cx="365760" cy="3657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9140" y="239572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9" y="2834639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300" b="1">
                <a:solidFill>
                  <a:srgbClr val="484848"/>
                </a:solidFill>
                <a:latin typeface="Pretendard"/>
              </a:defRPr>
            </a:pPr>
            <a:r>
              <a:t>이메일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3063239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HTML 리포트</a:t>
            </a:r>
          </a:p>
          <a:p>
            <a:pPr algn="ctr">
              <a:defRPr sz="1000" b="0">
                <a:solidFill>
                  <a:srgbClr val="767676"/>
                </a:solidFill>
                <a:latin typeface="Pretendard"/>
              </a:defRPr>
            </a:pPr>
            <a:r>
              <a:t>자동 발송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이메일에 포함되는 내용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7764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032504"/>
            <a:ext cx="36576" cy="420624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59" y="4105656"/>
            <a:ext cx="960120" cy="256032"/>
          </a:xfrm>
          <a:prstGeom prst="roundRect">
            <a:avLst>
              <a:gd name="adj" fmla="val 8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114800"/>
            <a:ext cx="96012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시장 위치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114800"/>
            <a:ext cx="33375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서울 전체 / 자치구 내 수익 백분위 순위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672584"/>
            <a:ext cx="36576" cy="420624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2959" y="4745736"/>
            <a:ext cx="960120" cy="256032"/>
          </a:xfrm>
          <a:prstGeom prst="roundRect">
            <a:avLst>
              <a:gd name="adj" fmla="val 8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754880"/>
            <a:ext cx="96012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수익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4754880"/>
            <a:ext cx="33375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구 평균 대비 · 최근 3개월 추세 · 유형별 비교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25780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312664"/>
            <a:ext cx="36576" cy="42062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59" y="538581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394960"/>
            <a:ext cx="111556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경쟁력 진단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1408" y="5394960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같은 유형 숙소 대비 포지셔닝 (4분면)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897880"/>
            <a:ext cx="5029200" cy="530352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952744"/>
            <a:ext cx="36576" cy="42062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59" y="6025896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6035040"/>
            <a:ext cx="111556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개선 포인트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21408" y="6035040"/>
            <a:ext cx="318211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사진 · 요금 · 최소숙박일 등 구체적 행동 제안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1783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800" b="1">
                <a:solidFill>
                  <a:srgbClr val="484848"/>
                </a:solidFill>
                <a:latin typeface="Pretendard"/>
              </a:defRPr>
            </a:pPr>
            <a:r>
              <a:t>이메일 미리보기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80176" y="2185416"/>
            <a:ext cx="5394960" cy="4434840"/>
          </a:xfrm>
          <a:prstGeom prst="roundRect">
            <a:avLst>
              <a:gd name="adj" fmla="val 4000"/>
            </a:avLst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0" y="2148840"/>
            <a:ext cx="539496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0" y="2148840"/>
            <a:ext cx="5394960" cy="292608"/>
          </a:xfrm>
          <a:prstGeom prst="roundRect">
            <a:avLst>
              <a:gd name="adj" fmla="val 4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2386584"/>
            <a:ext cx="5394960" cy="54864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080760" y="2240280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17920" y="224028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55080" y="2240280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83680" y="2203704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2208276"/>
            <a:ext cx="2743200" cy="1828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800" b="0">
                <a:solidFill>
                  <a:srgbClr val="B0B0B0"/>
                </a:solidFill>
                <a:latin typeface="Pretendard"/>
              </a:defRPr>
            </a:pPr>
            <a:r>
              <a:t>https://mail.google.com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98480" y="2203704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2208276"/>
            <a:ext cx="457200" cy="1828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700" b="1">
                <a:solidFill>
                  <a:srgbClr val="FFFFFF"/>
                </a:solidFill>
                <a:latin typeface="Pretendard"/>
              </a:defRPr>
            </a:pPr>
            <a:r>
              <a:t>● FREE</a:t>
            </a:r>
          </a:p>
        </p:txBody>
      </p:sp>
      <p:pic>
        <p:nvPicPr>
          <p:cNvPr id="60" name="Picture 59" descr="dashboard_free_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68879"/>
            <a:ext cx="5303520" cy="3683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3200" b="1">
                <a:solidFill>
                  <a:srgbClr val="FFFFFF"/>
                </a:solidFill>
                <a:latin typeface="Pretendard"/>
              </a:defRPr>
            </a:pPr>
            <a: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5486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호스트 컨설팅</a:t>
            </a:r>
          </a:p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대시보드</a:t>
            </a:r>
          </a:p>
        </p:txBody>
      </p:sp>
      <p:sp>
        <p:nvSpPr>
          <p:cNvPr id="6" name="Oval 5"/>
          <p:cNvSpPr/>
          <p:nvPr/>
        </p:nvSpPr>
        <p:spPr>
          <a:xfrm>
            <a:off x="5029200" y="1188720"/>
            <a:ext cx="320040" cy="320040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21615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0">
                <a:solidFill>
                  <a:srgbClr val="FFFFFF"/>
                </a:solidFill>
                <a:latin typeface="Pretendard"/>
              </a:defRPr>
            </a:pPr>
            <a:r>
              <a:t>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600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분석 결과를 호스트가 직접 탐색하고</a:t>
            </a:r>
          </a:p>
          <a:p>
            <a:pPr algn="l">
              <a:defRPr sz="1500" b="0">
                <a:solidFill>
                  <a:srgbClr val="767676"/>
                </a:solidFill>
                <a:latin typeface="Pretendard"/>
              </a:defRPr>
            </a:pPr>
            <a:r>
              <a:t>즉시 행동으로 연결하는 의사결정 도구</a:t>
            </a:r>
          </a:p>
        </p:txBody>
      </p:sp>
      <p:sp>
        <p:nvSpPr>
          <p:cNvPr id="10" name="Oval 9"/>
          <p:cNvSpPr/>
          <p:nvPr/>
        </p:nvSpPr>
        <p:spPr>
          <a:xfrm>
            <a:off x="5029200" y="2423160"/>
            <a:ext cx="320040" cy="320040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450592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Pretendard"/>
              </a:defRPr>
            </a:pPr>
            <a: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2316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핵심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788920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834639"/>
            <a:ext cx="36576" cy="50292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12080" y="2880360"/>
            <a:ext cx="384048" cy="384048"/>
          </a:xfrm>
          <a:prstGeom prst="ellipse">
            <a:avLst/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898648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F385C"/>
                </a:solidFill>
                <a:latin typeface="Pretendard"/>
              </a:defRPr>
            </a:pPr>
            <a:r>
              <a:t>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86207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시장 위치 4분면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0896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내 숙소의 경쟁력을 한눈에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493008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3538727"/>
            <a:ext cx="36576" cy="502920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0" y="3584448"/>
            <a:ext cx="384048" cy="384048"/>
          </a:xfrm>
          <a:prstGeom prst="ellipse">
            <a:avLst/>
          </a:prstGeom>
          <a:solidFill>
            <a:srgbClr val="E0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602736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00A699"/>
                </a:solidFill>
                <a:latin typeface="Pretendard"/>
              </a:defRPr>
            </a:pPr>
            <a:r>
              <a:t>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661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건강점수 게이지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813048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A~F 등급으로 숙소 상태 종합 진단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197096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4242816"/>
            <a:ext cx="36576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80" y="4288536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0" y="430682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4A90D9"/>
                </a:solidFill>
                <a:latin typeface="Pretendard"/>
              </a:defRPr>
            </a:pPr>
            <a:r>
              <a:t>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7024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수익 예측 시뮬레이터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517136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조건 변경 시 수익 변화를 즉시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4901183"/>
            <a:ext cx="5943600" cy="594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0" y="4946903"/>
            <a:ext cx="36576" cy="502920"/>
          </a:xfrm>
          <a:prstGeom prst="rect">
            <a:avLst/>
          </a:prstGeom>
          <a:solidFill>
            <a:srgbClr val="FC6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12080" y="4992623"/>
            <a:ext cx="384048" cy="384048"/>
          </a:xfrm>
          <a:prstGeom prst="ellipse">
            <a:avLst/>
          </a:prstGeom>
          <a:solidFill>
            <a:srgbClr val="FF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0" y="5010912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600" b="1">
                <a:solidFill>
                  <a:srgbClr val="FC642D"/>
                </a:solidFill>
                <a:latin typeface="Pretendard"/>
              </a:defRPr>
            </a:pPr>
            <a: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97433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500" b="1">
                <a:solidFill>
                  <a:srgbClr val="484848"/>
                </a:solidFill>
                <a:latin typeface="Pretendard"/>
              </a:defRPr>
            </a:pPr>
            <a:r>
              <a:t>맞춤 행동 체크리스트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5221223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우선순위별 개선 제안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0" y="5742432"/>
            <a:ext cx="320040" cy="32004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5769864"/>
            <a:ext cx="3200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defRPr sz="1400" b="0">
                <a:solidFill>
                  <a:srgbClr val="FFFFFF"/>
                </a:solidFill>
                <a:latin typeface="Pretendard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742432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2000" b="1">
                <a:solidFill>
                  <a:srgbClr val="484848"/>
                </a:solidFill>
                <a:latin typeface="Pretendard"/>
              </a:defRPr>
            </a:pPr>
            <a:r>
              <a:t>사용자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78815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400" b="0">
                <a:solidFill>
                  <a:srgbClr val="767676"/>
                </a:solidFill>
                <a:latin typeface="Pretendard"/>
              </a:defRPr>
            </a:pPr>
            <a:r>
              <a:t>호스트 · 운영자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6245352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6300216"/>
            <a:ext cx="36576" cy="210312"/>
          </a:xfrm>
          <a:prstGeom prst="rect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66360" y="6272784"/>
            <a:ext cx="24688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defRPr sz="1100" b="1">
                <a:solidFill>
                  <a:srgbClr val="00A699"/>
                </a:solidFill>
                <a:latin typeface="Pretendard"/>
              </a:defRPr>
            </a:pPr>
            <a:r>
              <a:t>Streamlit 기반 · 실시간 · 모바일 지원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
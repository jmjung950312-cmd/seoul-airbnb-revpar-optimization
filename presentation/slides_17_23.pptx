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Dual Model 아키텍처 — ADR × Occupancy 분리 예측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보충 모델링: 메인 모델(단일 RevPAR 예측)에 이어, ADR과 점유율을 분리하여 호스트가 각각 조종 가능하도록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347" y="201168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347" y="2011680"/>
            <a:ext cx="2331720" cy="54864"/>
          </a:xfrm>
          <a:prstGeom prst="roundRect">
            <a:avLst>
              <a:gd name="adj" fmla="val 6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35327" y="2240280"/>
            <a:ext cx="365760" cy="36576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5327" y="22585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507" y="274320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Model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507" y="306324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500" b="1">
                <a:solidFill>
                  <a:srgbClr val="FF385C"/>
                </a:solidFill>
                <a:latin typeface="Pretendard"/>
              </a:defRPr>
            </a:pPr>
            <a:r>
              <a:t>ADR 예측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6667" y="3474720"/>
            <a:ext cx="1783079" cy="13716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5227" y="3657600"/>
            <a:ext cx="1965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400" b="0">
                <a:solidFill>
                  <a:srgbClr val="FFFFFF"/>
                </a:solidFill>
                <a:latin typeface="Pretendard"/>
              </a:defRPr>
            </a:pPr>
            <a:r>
              <a:t>위치 · 규모 · POI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2355" y="3291840"/>
            <a:ext cx="27432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4107" y="201168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04107" y="2011680"/>
            <a:ext cx="2331720" cy="54864"/>
          </a:xfrm>
          <a:prstGeom prst="roundRect">
            <a:avLst>
              <a:gd name="adj" fmla="val 6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87087" y="2240280"/>
            <a:ext cx="365760" cy="36576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7087" y="22585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1267" y="274320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1267" y="306324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500" b="1">
                <a:solidFill>
                  <a:srgbClr val="00A699"/>
                </a:solidFill>
                <a:latin typeface="Pretendard"/>
              </a:defRPr>
            </a:pPr>
            <a:r>
              <a:t>price_gap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78427" y="3474720"/>
            <a:ext cx="1783079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86987" y="3657600"/>
            <a:ext cx="1965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현재 ADR</a:t>
            </a:r>
          </a:p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− 예측 ADR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4115" y="3291840"/>
            <a:ext cx="27432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5867" y="201168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55867" y="2011680"/>
            <a:ext cx="2331720" cy="54864"/>
          </a:xfrm>
          <a:prstGeom prst="roundRect">
            <a:avLst>
              <a:gd name="adj" fmla="val 6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38847" y="2240280"/>
            <a:ext cx="365760" cy="36576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8847" y="22585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3027" y="274320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Model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3027" y="306324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500" b="1">
                <a:solidFill>
                  <a:srgbClr val="00A699"/>
                </a:solidFill>
                <a:latin typeface="Pretendard"/>
              </a:defRPr>
            </a:pPr>
            <a:r>
              <a:t>Occupancy 예측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0187" y="3474720"/>
            <a:ext cx="1783079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8747" y="3657600"/>
            <a:ext cx="1965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예약정책 · 리뷰</a:t>
            </a:r>
          </a:p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평점 + price_gap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5875" y="3291840"/>
            <a:ext cx="27432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07627" y="201168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07627" y="2011680"/>
            <a:ext cx="2331720" cy="54864"/>
          </a:xfrm>
          <a:prstGeom prst="roundRect">
            <a:avLst>
              <a:gd name="adj" fmla="val 6000"/>
            </a:avLst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90607" y="2240280"/>
            <a:ext cx="365760" cy="365760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0607" y="22585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44787" y="274320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Calibration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4787" y="306324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500" b="1">
                <a:solidFill>
                  <a:srgbClr val="B0B0B0"/>
                </a:solidFill>
                <a:latin typeface="Pretendard"/>
              </a:defRPr>
            </a:pPr>
            <a:r>
              <a:t>Isotonic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1947" y="3474720"/>
            <a:ext cx="1783079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0507" y="3657600"/>
            <a:ext cx="1965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단조증가 보정</a:t>
            </a:r>
          </a:p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→ 최종 RevPAR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303520"/>
            <a:ext cx="10789920" cy="54864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303520"/>
            <a:ext cx="36576" cy="54864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39496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메인 모델(p18~19)과 별도로, ADR·점유율을 분리 예측하여 호스트 액션을 구체화하는 보충 모델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호스트 모델 — 선택 근거 &amp; 누수 방지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성능만 추구하지 않았습니다. TreeSHAP 정확 해석 · 비선형 포착 · 경량 배포 — 세 기준으로 선택했습니다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모델 선택 근거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349240" cy="73152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50592"/>
            <a:ext cx="36576" cy="585216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LightGBM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6148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TreeSHAP 정확 해석 · 비선형 포착 · 경량 배포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2560320"/>
            <a:ext cx="1005840" cy="365760"/>
          </a:xfrm>
          <a:prstGeom prst="roundRect">
            <a:avLst>
              <a:gd name="adj" fmla="val 6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578608"/>
            <a:ext cx="10058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→ 선택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534924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19272"/>
            <a:ext cx="36576" cy="585216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3016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TreeSHAP 가능하나 트리 수백 개 → 느림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534924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187952"/>
            <a:ext cx="36576" cy="585216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062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9884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KernelSHAP만 가능 (근사치) · 선형 가정 한계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83479"/>
            <a:ext cx="534924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056631"/>
            <a:ext cx="36576" cy="585216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7491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DummyRegressor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67527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중위값 기준선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79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1">
                <a:solidFill>
                  <a:srgbClr val="767676"/>
                </a:solidFill>
                <a:latin typeface="Pretendard"/>
              </a:defRPr>
            </a:pPr>
            <a:r>
              <a:t>SHAP은 model-agnostic이나, TreeSHAP은 트리 모델 전용 → 정확 + 고속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92024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데이터 누수 방지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331720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2386584"/>
            <a:ext cx="36576" cy="438912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377440"/>
            <a:ext cx="4983479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484848"/>
                </a:solidFill>
                <a:latin typeface="Pretendard"/>
              </a:defRPr>
            </a:pPr>
            <a:r>
              <a:t>실전 배포 시 쓸 수 없는 R² 0.95보다,</a:t>
            </a:r>
          </a:p>
          <a:p>
            <a:pPr algn="l">
              <a:defRPr sz="1200" b="0">
                <a:solidFill>
                  <a:srgbClr val="484848"/>
                </a:solidFill>
                <a:latin typeface="Pretendard"/>
              </a:defRPr>
            </a:pPr>
            <a:r>
              <a:t>실전에서 재현되는 R² 0.85가 신뢰할 수 있는 모델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017520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3072384"/>
            <a:ext cx="36576" cy="53035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37960" y="3090672"/>
            <a:ext cx="1097280" cy="274320"/>
          </a:xfrm>
          <a:prstGeom prst="roundRect">
            <a:avLst>
              <a:gd name="adj" fmla="val 6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09067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CRITICAL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07238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revpar_vs_district_median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364991"/>
            <a:ext cx="370332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타겟 직접 파생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3767328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3822191"/>
            <a:ext cx="36576" cy="530352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37960" y="3840480"/>
            <a:ext cx="1097280" cy="274320"/>
          </a:xfrm>
          <a:prstGeom prst="roundRect">
            <a:avLst>
              <a:gd name="adj" fmla="val 6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840480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822191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revpar_trend, review_rate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114800"/>
            <a:ext cx="370332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타겟 구성요소 포함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4517136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4571999"/>
            <a:ext cx="36576" cy="5303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37960" y="4590288"/>
            <a:ext cx="1097280" cy="274320"/>
          </a:xfrm>
          <a:prstGeom prst="roundRect">
            <a:avLst>
              <a:gd name="adj" fmla="val 6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590288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571999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price_efficiency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864607"/>
            <a:ext cx="370332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ADR / Occupancy 간접 누수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55080" y="5303520"/>
            <a:ext cx="5349240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5358384"/>
            <a:ext cx="4983479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1">
                <a:solidFill>
                  <a:srgbClr val="767676"/>
                </a:solidFill>
                <a:latin typeface="Pretendard"/>
              </a:defRPr>
            </a:pPr>
            <a:r>
              <a:t>제외 (TTM/L90D 직접 구성요소)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5596128"/>
            <a:ext cx="4983479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100" b="0">
                <a:solidFill>
                  <a:srgbClr val="484848"/>
                </a:solidFill>
                <a:latin typeface="Pretendard"/>
              </a:defRPr>
            </a:pPr>
            <a:r>
              <a:t>ttm_occupancy · ttm_avg_rate · ttm_revenue</a:t>
            </a:r>
          </a:p>
          <a:p>
            <a:pPr algn="l">
              <a:defRPr sz="1100" b="0">
                <a:solidFill>
                  <a:srgbClr val="484848"/>
                </a:solidFill>
                <a:latin typeface="Pretendard"/>
              </a:defRPr>
            </a:pPr>
            <a:r>
              <a:t>l90d_revpar · l90d_occupancy · l90d_avg_rate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80" y="6126480"/>
            <a:ext cx="5349240" cy="36576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60" y="6144768"/>
            <a:ext cx="4983479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300" b="1">
                <a:solidFill>
                  <a:srgbClr val="00A699"/>
                </a:solidFill>
                <a:latin typeface="Pretendard"/>
              </a:defRPr>
            </a:pPr>
            <a:r>
              <a:t>Model Review 에이전트가 자동 검출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호스트 모델 — 성능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호스트 통제 변수만으로 RevPAR의 85%를 예측할 수 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2743200" cy="50292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011679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965960"/>
            <a:ext cx="2011680" cy="50292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011679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CV R²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965960"/>
            <a:ext cx="2011680" cy="50292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011679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Test R²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965960"/>
            <a:ext cx="2011680" cy="50292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2011679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Test 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965960"/>
            <a:ext cx="2011680" cy="50292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011679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Test MAPE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2743200" cy="502920"/>
          </a:xfrm>
          <a:prstGeom prst="rect">
            <a:avLst/>
          </a:prstGeom>
          <a:solidFill>
            <a:srgbClr val="FFF0F3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251460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385C"/>
                </a:solidFill>
                <a:latin typeface="Pretendard"/>
              </a:defRPr>
            </a:pPr>
            <a:r>
              <a:t>LightGBM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468880"/>
            <a:ext cx="2011680" cy="502920"/>
          </a:xfrm>
          <a:prstGeom prst="rect">
            <a:avLst/>
          </a:prstGeom>
          <a:solidFill>
            <a:srgbClr val="FFF0F3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51460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0.847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2468880"/>
            <a:ext cx="2011680" cy="502920"/>
          </a:xfrm>
          <a:prstGeom prst="rect">
            <a:avLst/>
          </a:prstGeom>
          <a:solidFill>
            <a:srgbClr val="FFF0F3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51460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0.85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468880"/>
            <a:ext cx="2011680" cy="502920"/>
          </a:xfrm>
          <a:prstGeom prst="rect">
            <a:avLst/>
          </a:prstGeom>
          <a:solidFill>
            <a:srgbClr val="FFF0F3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251460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₩19,554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2468880"/>
            <a:ext cx="2011680" cy="502920"/>
          </a:xfrm>
          <a:prstGeom prst="rect">
            <a:avLst/>
          </a:prstGeom>
          <a:solidFill>
            <a:srgbClr val="FFF0F3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51460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32.6%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97180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301752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Random Forest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297180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01752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0.744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297180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301752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0.75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97180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301752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₩24,470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297180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301752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45.6%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474720"/>
            <a:ext cx="27432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19" y="352044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Ridge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3474720"/>
            <a:ext cx="20116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35204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0.579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60" y="3474720"/>
            <a:ext cx="20116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35204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0.57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3474720"/>
            <a:ext cx="20116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0" y="35204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₩27,595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3474720"/>
            <a:ext cx="20116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35204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70.4%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97764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19" y="402336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Baseline (Dummy)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80" y="397764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0" y="402336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-0.025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397764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402336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397764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0" y="402336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397764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402336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—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6656" y="4745736"/>
            <a:ext cx="3410712" cy="1371600"/>
          </a:xfrm>
          <a:prstGeom prst="roundRect">
            <a:avLst>
              <a:gd name="adj" fmla="val 4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40080" y="4709160"/>
            <a:ext cx="3410712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0080" y="4764024"/>
            <a:ext cx="36576" cy="126187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59" y="4846320"/>
            <a:ext cx="3044952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3600" b="1">
                <a:solidFill>
                  <a:srgbClr val="FF385C"/>
                </a:solidFill>
                <a:latin typeface="Pretendard"/>
              </a:defRPr>
            </a:pPr>
            <a:r>
              <a:t>85%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59" y="548640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호스트 통제 변수만으로</a:t>
            </a:r>
          </a:p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RevPAR 설명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61688" y="4745736"/>
            <a:ext cx="3410712" cy="1371600"/>
          </a:xfrm>
          <a:prstGeom prst="roundRect">
            <a:avLst>
              <a:gd name="adj" fmla="val 4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325112" y="4709160"/>
            <a:ext cx="3410712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25112" y="4764024"/>
            <a:ext cx="36576" cy="126187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07992" y="4846320"/>
            <a:ext cx="3044952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3600" b="1">
                <a:solidFill>
                  <a:srgbClr val="00A699"/>
                </a:solidFill>
                <a:latin typeface="Pretendard"/>
              </a:defRPr>
            </a:pPr>
            <a:r>
              <a:t>+0.875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07992" y="548640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Baseline 대비 R² 개선</a:t>
            </a:r>
          </a:p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→ 모델 가치 증명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46719" y="4745736"/>
            <a:ext cx="3410712" cy="1371600"/>
          </a:xfrm>
          <a:prstGeom prst="roundRect">
            <a:avLst>
              <a:gd name="adj" fmla="val 4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010144" y="4709160"/>
            <a:ext cx="3410712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010144" y="4764024"/>
            <a:ext cx="36576" cy="1261872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93023" y="4846320"/>
            <a:ext cx="3044952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3600" b="1">
                <a:solidFill>
                  <a:srgbClr val="484848"/>
                </a:solidFill>
                <a:latin typeface="Pretendard"/>
              </a:defRPr>
            </a:pPr>
            <a:r>
              <a:t>₩19,554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93023" y="548640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평균 예측 오차</a:t>
            </a:r>
          </a:p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→ 실무 활용 수준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274320"/>
            <a:ext cx="201168" cy="20116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SECTION 05 — 모델링 성능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60120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SHAP 특성 중요도 분석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789920" cy="868680"/>
          </a:xfrm>
          <a:prstGeom prst="roundRect">
            <a:avLst>
              <a:gd name="adj" fmla="val 6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7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핵심 인사이트 — 실행 우선순위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FFFFFF"/>
                </a:solidFill>
                <a:latin typeface="Pretendard"/>
              </a:defRPr>
            </a:pPr>
            <a:r>
              <a:t>SHAP 분석 결과, 리뷰 수(0.508)가 압도적 1순위입니다. 호스트는 리뷰 유도 → 평점 4.8+ 유지 → 최소숙박 2~3박 → 사진 21~35장 순서로 집중하여 RevPAR를 단계적으로 개선할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676656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260604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600" b="1">
                <a:solidFill>
                  <a:srgbClr val="FF385C"/>
                </a:solidFill>
                <a:latin typeface="Pretendard"/>
              </a:defRPr>
            </a:pPr>
            <a:r>
              <a:t>SHAP 중요도 (호스트 통제 변수)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19" y="2926080"/>
            <a:ext cx="612648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리뷰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154680"/>
            <a:ext cx="3483864" cy="384048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39896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평점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739896"/>
            <a:ext cx="822960" cy="384048"/>
          </a:xfrm>
          <a:prstGeom prst="roundRect">
            <a:avLst>
              <a:gd name="adj" fmla="val 4000"/>
            </a:avLst>
          </a:prstGeom>
          <a:solidFill>
            <a:srgbClr val="FF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25112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최소숙박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4325112"/>
            <a:ext cx="541782" cy="384048"/>
          </a:xfrm>
          <a:prstGeom prst="roundRect">
            <a:avLst>
              <a:gd name="adj" fmla="val 4000"/>
            </a:avLst>
          </a:prstGeom>
          <a:solidFill>
            <a:srgbClr val="FF7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1032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사진 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4910328"/>
            <a:ext cx="486918" cy="384048"/>
          </a:xfrm>
          <a:prstGeom prst="roundRect">
            <a:avLst>
              <a:gd name="adj" fmla="val 4000"/>
            </a:avLst>
          </a:prstGeom>
          <a:solidFill>
            <a:srgbClr val="FFA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95544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POI 거리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5495544"/>
            <a:ext cx="370332" cy="384048"/>
          </a:xfrm>
          <a:prstGeom prst="roundRect">
            <a:avLst>
              <a:gd name="adj" fmla="val 4000"/>
            </a:avLst>
          </a:prstGeom>
          <a:solidFill>
            <a:srgbClr val="FF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598932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000" b="0">
                <a:solidFill>
                  <a:srgbClr val="B0B0B0"/>
                </a:solidFill>
                <a:latin typeface="Pretendard"/>
              </a:defRPr>
            </a:pPr>
            <a:r>
              <a:t>0.00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98932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000" b="0">
                <a:solidFill>
                  <a:srgbClr val="B0B0B0"/>
                </a:solidFill>
                <a:latin typeface="Pretendard"/>
              </a:defRPr>
            </a:pPr>
            <a:r>
              <a:t>0.10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98932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000" b="0">
                <a:solidFill>
                  <a:srgbClr val="B0B0B0"/>
                </a:solidFill>
                <a:latin typeface="Pretendard"/>
              </a:defRPr>
            </a:pPr>
            <a:r>
              <a:t>0.20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98932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000" b="0">
                <a:solidFill>
                  <a:srgbClr val="B0B0B0"/>
                </a:solidFill>
                <a:latin typeface="Pretendard"/>
              </a:defRPr>
            </a:pPr>
            <a:r>
              <a:t>0.30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598932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000" b="0">
                <a:solidFill>
                  <a:srgbClr val="B0B0B0"/>
                </a:solidFill>
                <a:latin typeface="Pretendard"/>
              </a:defRPr>
            </a:pPr>
            <a:r>
              <a:t>0.40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598932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000" b="0">
                <a:solidFill>
                  <a:srgbClr val="B0B0B0"/>
                </a:solidFill>
                <a:latin typeface="Pretendard"/>
              </a:defRPr>
            </a:pPr>
            <a:r>
              <a:t>0.50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98932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000" b="0">
                <a:solidFill>
                  <a:srgbClr val="B0B0B0"/>
                </a:solidFill>
                <a:latin typeface="Pretendard"/>
              </a:defRPr>
            </a:pPr>
            <a:r>
              <a:t>0.60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423160"/>
            <a:ext cx="379476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60604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600" b="1">
                <a:solidFill>
                  <a:srgbClr val="FF385C"/>
                </a:solidFill>
                <a:latin typeface="Pretendard"/>
              </a:defRPr>
            </a:pPr>
            <a:r>
              <a:t>호스트 액션 우선순위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2926080"/>
            <a:ext cx="324612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18119" y="3108960"/>
            <a:ext cx="3429000" cy="777240"/>
          </a:xfrm>
          <a:prstGeom prst="roundRect">
            <a:avLst>
              <a:gd name="adj" fmla="val 5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55279" y="329184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32918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000" b="1">
                <a:solidFill>
                  <a:srgbClr val="FF385C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9" y="318211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리뷰 유도 메시지 발송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345643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중요도: 0.508 | 체크아웃 후 리뷰 리마인드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19" y="4023360"/>
            <a:ext cx="3429000" cy="640080"/>
          </a:xfrm>
          <a:prstGeom prst="roundRect">
            <a:avLst>
              <a:gd name="adj" fmla="val 5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55279" y="41376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9" y="41376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000" b="1">
                <a:solidFill>
                  <a:srgbClr val="FF385C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19" y="409651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평점 4.8 이상 유지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19" y="437083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중요도: 0.120 | 체크인 안내 · 문제 즉시 보상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18119" y="4800600"/>
            <a:ext cx="3429000" cy="640080"/>
          </a:xfrm>
          <a:prstGeom prst="roundRect">
            <a:avLst>
              <a:gd name="adj" fmla="val 5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955279" y="491490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79" y="491490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000" b="1">
                <a:solidFill>
                  <a:srgbClr val="FF385C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19" y="487375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최소숙박 2~3박 설정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19" y="514807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중요도: 0.079 | RevPAR 최적 구간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19" y="5577840"/>
            <a:ext cx="3429000" cy="640080"/>
          </a:xfrm>
          <a:prstGeom prst="roundRect">
            <a:avLst>
              <a:gd name="adj" fmla="val 5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955279" y="569214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79" y="56921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000" b="1">
                <a:solidFill>
                  <a:srgbClr val="FF385C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19" y="565099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사진 21~35장 업로드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19" y="592531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중요도: 0.071 | 최적 구간 초과 시 한계효용 체감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숙소 건강점수 — 5컴포넌트 × A~F 등급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호스트가 '지금 어디가 부족한가'를 한눈에 파악하는 종합 진단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건강점수 (0~100)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534924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560320"/>
            <a:ext cx="320040" cy="32004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96312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리뷰 신호 (20%)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43200"/>
            <a:ext cx="44348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리뷰수 + 평점 백분위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36392"/>
            <a:ext cx="534924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273552"/>
            <a:ext cx="320040" cy="32004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73552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09544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사진 품질 (20%)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56432"/>
            <a:ext cx="44348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23~35장 = 100점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9624"/>
            <a:ext cx="534924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986784"/>
            <a:ext cx="320040" cy="320040"/>
          </a:xfrm>
          <a:prstGeom prst="ellipse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86784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22776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예약 정책 (20%)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169664"/>
            <a:ext cx="44348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즉시예약 + 최소박 + 추가요금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62856"/>
            <a:ext cx="534924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700016"/>
            <a:ext cx="320040" cy="32004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00016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36008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위치 (20%)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882896"/>
            <a:ext cx="44348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POI 근접도 역백분위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276088"/>
            <a:ext cx="534924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" y="5413248"/>
            <a:ext cx="320040" cy="3200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13248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34924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숙소 구성 (20%)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596128"/>
            <a:ext cx="44348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침실 · 욕실 백분위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92024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등급 매트릭스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2423160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92240" y="2487168"/>
            <a:ext cx="365760" cy="36576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4871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2496312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≥ 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2496312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상위 20%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3044952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2240" y="3108960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1089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3118104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≥ 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3118104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양호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3666744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92240" y="3730752"/>
            <a:ext cx="365760" cy="365760"/>
          </a:xfrm>
          <a:prstGeom prst="ellipse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73075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3739896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≥ 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3739896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보통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55080" y="4288536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2240" y="4352544"/>
            <a:ext cx="365760" cy="36576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43525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4361688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≥ 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4361688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취약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55080" y="4910328"/>
            <a:ext cx="5349240" cy="5029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92240" y="4974336"/>
            <a:ext cx="365760" cy="365760"/>
          </a:xfrm>
          <a:prstGeom prst="ellipse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497433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4983480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&lt; 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4983480"/>
            <a:ext cx="32004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위험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5760720"/>
            <a:ext cx="1078992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" y="5760720"/>
            <a:ext cx="36576" cy="59436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585216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예시: 마포구 원룸, 리뷰 12건, 평점 4.6, 즉시예약 미활성 → 건강점수 C (41점) — 예약정책 · 숙소구성 취약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자치구 군집 모델 — K-Means (k=4)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개별 호스트 예측은 LightGBM, 시장 포지셔닝은 K-Means. 두 모델이 서로 다른 의사결정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왜 군집 모델인가?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534924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532888"/>
            <a:ext cx="365760" cy="36576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3288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96312"/>
            <a:ext cx="44348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자치구 단위 (n=25) → 소표본에 적합한 군집화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36392"/>
            <a:ext cx="534924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3246120"/>
            <a:ext cx="365760" cy="36576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09544"/>
            <a:ext cx="44348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시장 유형 분류 → 호스트 모델과 상호 보완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17720"/>
            <a:ext cx="2377440" cy="411480"/>
          </a:xfrm>
          <a:prstGeom prst="roundRect">
            <a:avLst>
              <a:gd name="adj" fmla="val 6000"/>
            </a:avLst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360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K-Means (k=4) · 표준화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4617720"/>
            <a:ext cx="2743200" cy="41148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463600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767676"/>
                </a:solidFill>
                <a:latin typeface="Pretendard"/>
              </a:defRPr>
            </a:pPr>
            <a:r>
              <a:t>StandardScaler 정규화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모델 선택 근거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423160"/>
            <a:ext cx="53492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496312"/>
            <a:ext cx="36576" cy="630936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5146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Elbow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807208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k=2~8 범위 탐색 → k=4에서 뚜렷한 elbow 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337560"/>
            <a:ext cx="53492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3410712"/>
            <a:ext cx="36576" cy="630936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4290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Silhouette Score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721608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군집 간 분리도 검증 → 안정적 군집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251960"/>
            <a:ext cx="5349240" cy="100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4325112"/>
            <a:ext cx="36576" cy="85953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3434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입력 피처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636008"/>
            <a:ext cx="489204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median_revpar_ao · dormant_ratio</a:t>
            </a:r>
          </a:p>
          <a:p>
            <a:pPr algn="l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superhost_rate · total_listings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852160"/>
            <a:ext cx="10789920" cy="45720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897880"/>
            <a:ext cx="1024128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600" b="1">
                <a:solidFill>
                  <a:srgbClr val="00A699"/>
                </a:solidFill>
                <a:latin typeface="Pretendard"/>
              </a:defRPr>
            </a:pPr>
            <a:r>
              <a:t>→ 대시보드 '시장 유형 &amp; 전략' 탭으로 연결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자치구 군집 결과 — 4대 시장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K-Means (k=4) · 25개 자치구 군집화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4039" y="1956816"/>
            <a:ext cx="2542032" cy="393192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7463" y="1920240"/>
            <a:ext cx="2542032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7463" y="1920240"/>
            <a:ext cx="2542032" cy="64008"/>
          </a:xfrm>
          <a:prstGeom prst="roundRect">
            <a:avLst>
              <a:gd name="adj" fmla="val 5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4623" y="2148840"/>
            <a:ext cx="548640" cy="320040"/>
          </a:xfrm>
          <a:prstGeom prst="roundRect">
            <a:avLst>
              <a:gd name="adj" fmla="val 6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4623" y="2148840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4703" y="2148840"/>
            <a:ext cx="1627631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핫플 수익형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903" y="2651760"/>
            <a:ext cx="2359151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3000" b="1">
                <a:solidFill>
                  <a:srgbClr val="FF385C"/>
                </a:solidFill>
                <a:latin typeface="Pretendard"/>
              </a:defRPr>
            </a:pPr>
            <a:r>
              <a:t>₩63,366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4623" y="3246120"/>
            <a:ext cx="2267712" cy="32004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4623" y="3264408"/>
            <a:ext cx="226771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0">
                <a:solidFill>
                  <a:srgbClr val="484848"/>
                </a:solidFill>
                <a:latin typeface="Pretendard"/>
              </a:defRPr>
            </a:pPr>
            <a:r>
              <a:t>마포구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1783" y="3749039"/>
            <a:ext cx="1993391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4623" y="3886200"/>
            <a:ext cx="226771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품질 밀도 강화</a:t>
            </a:r>
          </a:p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공급 과잉 경계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4623" y="4800600"/>
            <a:ext cx="2267712" cy="320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4623" y="4818888"/>
            <a:ext cx="226771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Dormant 50.8%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8951" y="1956816"/>
            <a:ext cx="2542032" cy="393192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62375" y="1920240"/>
            <a:ext cx="2542032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62375" y="1920240"/>
            <a:ext cx="2542032" cy="64008"/>
          </a:xfrm>
          <a:prstGeom prst="roundRect">
            <a:avLst>
              <a:gd name="adj" fmla="val 5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99535" y="2148840"/>
            <a:ext cx="548640" cy="320040"/>
          </a:xfrm>
          <a:prstGeom prst="roundRect">
            <a:avLst>
              <a:gd name="adj" fmla="val 6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9535" y="2148840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9615" y="2148840"/>
            <a:ext cx="1627631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프리미엄 비즈니스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3815" y="2651760"/>
            <a:ext cx="2359151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3000" b="1">
                <a:solidFill>
                  <a:srgbClr val="00A699"/>
                </a:solidFill>
                <a:latin typeface="Pretendard"/>
              </a:defRPr>
            </a:pPr>
            <a:r>
              <a:t>₩53,052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99535" y="3246120"/>
            <a:ext cx="2267712" cy="32004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9535" y="3264408"/>
            <a:ext cx="226771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0">
                <a:solidFill>
                  <a:srgbClr val="484848"/>
                </a:solidFill>
                <a:latin typeface="Pretendard"/>
              </a:defRPr>
            </a:pPr>
            <a:r>
              <a:t>강남 · 종로 · 용산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36695" y="3749039"/>
            <a:ext cx="1993391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9535" y="3886200"/>
            <a:ext cx="226771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슈퍼호스트</a:t>
            </a:r>
          </a:p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전환 인센티브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99535" y="4800600"/>
            <a:ext cx="2267712" cy="320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9535" y="4818888"/>
            <a:ext cx="226771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Dormant 52.1%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3863" y="1956816"/>
            <a:ext cx="2542032" cy="393192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87287" y="1920240"/>
            <a:ext cx="2542032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87287" y="1920240"/>
            <a:ext cx="2542032" cy="64008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24447" y="2148840"/>
            <a:ext cx="548640" cy="320040"/>
          </a:xfrm>
          <a:prstGeom prst="roundRect">
            <a:avLst>
              <a:gd name="adj" fmla="val 6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4447" y="2148840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C3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4527" y="2148840"/>
            <a:ext cx="1627631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로컬 주거형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8727" y="2651760"/>
            <a:ext cx="2359151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3000" b="1">
                <a:solidFill>
                  <a:srgbClr val="4A90D9"/>
                </a:solidFill>
                <a:latin typeface="Pretendard"/>
              </a:defRPr>
            </a:pPr>
            <a:r>
              <a:t>₩35,881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24447" y="3246120"/>
            <a:ext cx="2267712" cy="32004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4447" y="3264408"/>
            <a:ext cx="226771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0">
                <a:solidFill>
                  <a:srgbClr val="484848"/>
                </a:solidFill>
                <a:latin typeface="Pretendard"/>
              </a:defRPr>
            </a:pPr>
            <a:r>
              <a:t>13개 자치구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1607" y="3749039"/>
            <a:ext cx="1993391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4447" y="3886200"/>
            <a:ext cx="226771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사진 · 평점</a:t>
            </a:r>
          </a:p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표준 가이드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24447" y="4800600"/>
            <a:ext cx="2267712" cy="320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4447" y="4818888"/>
            <a:ext cx="226771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Dormant 55.4%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48775" y="1956816"/>
            <a:ext cx="2542032" cy="3931920"/>
          </a:xfrm>
          <a:prstGeom prst="roundRect">
            <a:avLst>
              <a:gd name="adj" fmla="val 5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12199" y="1920240"/>
            <a:ext cx="2542032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912199" y="1920240"/>
            <a:ext cx="2542032" cy="64008"/>
          </a:xfrm>
          <a:prstGeom prst="roundRect">
            <a:avLst>
              <a:gd name="adj" fmla="val 5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049359" y="2148840"/>
            <a:ext cx="548640" cy="320040"/>
          </a:xfrm>
          <a:prstGeom prst="roundRect">
            <a:avLst>
              <a:gd name="adj" fmla="val 6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49359" y="2148840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C4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9439" y="2148840"/>
            <a:ext cx="1627631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가성비 신흥형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3639" y="2651760"/>
            <a:ext cx="2359151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3000" b="1">
                <a:solidFill>
                  <a:srgbClr val="FC642D"/>
                </a:solidFill>
                <a:latin typeface="Pretendard"/>
              </a:defRPr>
            </a:pPr>
            <a:r>
              <a:t>₩26,413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49359" y="3246120"/>
            <a:ext cx="2267712" cy="320040"/>
          </a:xfrm>
          <a:prstGeom prst="roundRect">
            <a:avLst>
              <a:gd name="adj" fmla="val 4000"/>
            </a:avLst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49359" y="3264408"/>
            <a:ext cx="226771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0">
                <a:solidFill>
                  <a:srgbClr val="484848"/>
                </a:solidFill>
                <a:latin typeface="Pretendard"/>
              </a:defRPr>
            </a:pPr>
            <a:r>
              <a:t>동대문 · 관악 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6519" y="3749039"/>
            <a:ext cx="1993391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49359" y="3886200"/>
            <a:ext cx="226771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비활성 정리</a:t>
            </a:r>
          </a:p>
          <a:p>
            <a:pPr algn="ctr">
              <a:defRPr sz="1400" b="0">
                <a:solidFill>
                  <a:srgbClr val="484848"/>
                </a:solidFill>
                <a:latin typeface="Pretendard"/>
              </a:defRPr>
            </a:pPr>
            <a:r>
              <a:t>Dormant 집중 관리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49359" y="4800600"/>
            <a:ext cx="2267712" cy="320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9359" y="4818888"/>
            <a:ext cx="226771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Dormant 63.3%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6080760"/>
            <a:ext cx="10789920" cy="4572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" y="6080760"/>
            <a:ext cx="36576" cy="4572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6126480"/>
            <a:ext cx="1024128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이 군집 결과가 대시보드의 '자치구 벤치마킹' 기능으로 이어집니다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
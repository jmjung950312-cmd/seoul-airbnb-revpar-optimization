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767676"/>
                </a:solidFill>
                <a:latin typeface="Pretendard"/>
              </a:defRPr>
            </a:pPr>
            <a:r>
              <a:t>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484848"/>
                </a:solidFill>
                <a:latin typeface="Pretendard"/>
              </a:defRPr>
            </a:pPr>
            <a:r>
              <a:t>피처 엔지니어링 — 원본 데이터를 분석 가능한 형태로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24128"/>
            <a:ext cx="3291840" cy="381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5A5F"/>
                </a:solidFill>
                <a:latin typeface="Pretendard"/>
              </a:defRPr>
            </a:pPr>
            <a:r>
              <a:t>구간화 4개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83080" y="11887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0A699"/>
                </a:solidFill>
                <a:latin typeface="Pretendard"/>
              </a:defRPr>
            </a:pPr>
            <a:r>
              <a:t>비율·지표 3개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18872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767676"/>
                </a:solidFill>
                <a:latin typeface="Pretendard"/>
              </a:defRPr>
            </a:pPr>
            <a:r>
              <a:t>타겟 변환 1개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225296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원본 42열 → 14개 파생변수 추가 생성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618488"/>
            <a:ext cx="114300" cy="114300"/>
          </a:xfrm>
          <a:prstGeom prst="ellipse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구간화 — 연속형 변수를 의미 있는 구간으로 변환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74519"/>
            <a:ext cx="2542032" cy="12344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920239"/>
            <a:ext cx="50800" cy="11430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2039112"/>
            <a:ext cx="121158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5A5F"/>
                </a:solidFill>
                <a:latin typeface="SF Mono"/>
              </a:defRPr>
            </a:pPr>
            <a:r>
              <a:t>photos_tier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377439"/>
            <a:ext cx="2176272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사진 수 → 구간 분류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624327"/>
            <a:ext cx="217627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0~10 / 11~20 / 21~35 / 36+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874519"/>
            <a:ext cx="2542032" cy="12344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920239"/>
            <a:ext cx="50800" cy="11430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84448" y="2039112"/>
            <a:ext cx="1472184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5A5F"/>
                </a:solidFill>
                <a:latin typeface="SF Mono"/>
              </a:defRPr>
            </a:pPr>
            <a:r>
              <a:t>bedrooms_group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2377439"/>
            <a:ext cx="2176272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침실 수 → 구간 분류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2624327"/>
            <a:ext cx="217627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0 / 1 / 2 / 3+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1874519"/>
            <a:ext cx="2542032" cy="12344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1920239"/>
            <a:ext cx="50800" cy="11430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36207" y="2039112"/>
            <a:ext cx="121158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5A5F"/>
                </a:solidFill>
                <a:latin typeface="SF Mono"/>
              </a:defRPr>
            </a:pPr>
            <a:r>
              <a:t>baths_group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7" y="2377439"/>
            <a:ext cx="2176272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욕실 수 → 구간 분류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7" y="2624327"/>
            <a:ext cx="217627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1 / 1.5 / 2 / 2.5+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1874519"/>
            <a:ext cx="2542032" cy="12344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0" y="1920239"/>
            <a:ext cx="50800" cy="11430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887968" y="2039112"/>
            <a:ext cx="1298448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5A5F"/>
                </a:solidFill>
                <a:latin typeface="SF Mono"/>
              </a:defRPr>
            </a:pPr>
            <a:r>
              <a:t>guests_group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2377439"/>
            <a:ext cx="2176272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수용 인원 → 구간 분류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7968" y="2624327"/>
            <a:ext cx="217627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1~2 / 3~4 / 5~6 / 7+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" y="3337560"/>
            <a:ext cx="114300" cy="114300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27355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비율·지표 — 기존 컬럼을 조합하여 새로운 의미 부여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584448"/>
            <a:ext cx="2542032" cy="12344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3630168"/>
            <a:ext cx="50800" cy="11430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32688" y="3749039"/>
            <a:ext cx="1732788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5A5F"/>
                </a:solidFill>
                <a:latin typeface="SF Mono"/>
              </a:defRPr>
            </a:pPr>
            <a:r>
              <a:t>poi_dist_category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4087368"/>
            <a:ext cx="2176272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POI 거리 카테고리화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334256"/>
            <a:ext cx="217627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도보권 / 근거리 / 원거리 등급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83280" y="3584448"/>
            <a:ext cx="2542032" cy="12344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83280" y="3630168"/>
            <a:ext cx="50800" cy="11430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84448" y="3749039"/>
            <a:ext cx="2167128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5A5F"/>
                </a:solidFill>
                <a:latin typeface="SF Mono"/>
              </a:defRPr>
            </a:pPr>
            <a:r>
              <a:t>extra_guest_fee_policy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84448" y="4087368"/>
            <a:ext cx="2176272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추가요금 유무 이진화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84448" y="4334256"/>
            <a:ext cx="217627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추가인원 요금 있음/없음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3584448"/>
            <a:ext cx="2542032" cy="12344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3630168"/>
            <a:ext cx="50800" cy="11430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36207" y="3749039"/>
            <a:ext cx="1298448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5A5F"/>
                </a:solidFill>
                <a:latin typeface="SF Mono"/>
              </a:defRPr>
            </a:pPr>
            <a:r>
              <a:t>revpar_trend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6207" y="4087368"/>
            <a:ext cx="2176272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최근 90일 vs 연평균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7" y="4334256"/>
            <a:ext cx="217627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수익 방향성 (성장/하락)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0" y="3584448"/>
            <a:ext cx="2542032" cy="1234440"/>
          </a:xfrm>
          <a:prstGeom prst="roundRect">
            <a:avLst>
              <a:gd name="adj" fmla="val 5000"/>
            </a:avLst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686800" y="3630168"/>
            <a:ext cx="50800" cy="11430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887968" y="3785615"/>
            <a:ext cx="150876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A699"/>
                </a:solidFill>
                <a:latin typeface="SF Mono"/>
              </a:defRPr>
            </a:pPr>
            <a:r>
              <a:t>log_ttm_revpar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7968" y="4133087"/>
            <a:ext cx="2176272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RevPAR → log1p 변환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87968" y="4389120"/>
            <a:ext cx="217627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skewness 3.76 → 정규분포화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800600"/>
            <a:ext cx="10698480" cy="749808"/>
          </a:xfrm>
          <a:prstGeom prst="roundRect">
            <a:avLst>
              <a:gd name="adj" fmla="val 5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846320"/>
            <a:ext cx="50800" cy="658368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560" y="4873752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왜 이런 변수를 만들었나?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" y="5184648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484848"/>
                </a:solidFill>
                <a:latin typeface="Pretendard"/>
              </a:defRPr>
            </a:pPr>
            <a:r>
              <a:t>→  사진 21장과 22장의 차이는 무의미 — 의미 있는 구간으로 묶어 패턴 탐지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6279" y="5184648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484848"/>
                </a:solidFill>
                <a:latin typeface="Pretendard"/>
              </a:defRPr>
            </a:pPr>
            <a:r>
              <a:t>→  기존 컬럼의 비율·조합으로 숨은 패턴을 드러냄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01000" y="5184648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484848"/>
                </a:solidFill>
                <a:latin typeface="Pretendard"/>
              </a:defRPr>
            </a:pPr>
            <a:r>
              <a:t>→  RevPAR 분포가 극단적으로 치우쳐 log 변환으로 분석 안정성 확보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5715000"/>
            <a:ext cx="3383280" cy="685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1520" y="5760720"/>
            <a:ext cx="50800" cy="59436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0120" y="5788152"/>
            <a:ext cx="10972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3200" b="1">
                <a:solidFill>
                  <a:srgbClr val="00A699"/>
                </a:solidFill>
                <a:latin typeface="Pretendard"/>
              </a:defRPr>
            </a:pPr>
            <a:r>
              <a:t>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03120" y="5824728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484848"/>
                </a:solidFill>
                <a:latin typeface="Pretendard"/>
              </a:defRPr>
            </a:pPr>
            <a:r>
              <a:t>파생변수 생성</a:t>
            </a:r>
          </a:p>
          <a:p>
            <a:pPr>
              <a:defRPr sz="1100" b="1">
                <a:solidFill>
                  <a:srgbClr val="767676"/>
                </a:solidFill>
                <a:latin typeface="Pretendard"/>
              </a:defRPr>
            </a:pPr>
            <a:r>
              <a:t>원본 42열에서 추가 파생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251960" y="5715000"/>
            <a:ext cx="3383280" cy="685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51960" y="5760720"/>
            <a:ext cx="50800" cy="59436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80560" y="5788152"/>
            <a:ext cx="10972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3200" b="1">
                <a:solidFill>
                  <a:srgbClr val="FF5A5F"/>
                </a:solidFill>
                <a:latin typeface="Pretendard"/>
              </a:defRPr>
            </a:pPr>
            <a:r>
              <a:t>4+3+1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23560" y="5824728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484848"/>
                </a:solidFill>
                <a:latin typeface="Pretendard"/>
              </a:defRPr>
            </a:pPr>
            <a:r>
              <a:t>구간화 · 비율 · 타겟</a:t>
            </a:r>
          </a:p>
          <a:p>
            <a:pPr>
              <a:defRPr sz="1100" b="1">
                <a:solidFill>
                  <a:srgbClr val="767676"/>
                </a:solidFill>
                <a:latin typeface="Pretendard"/>
              </a:defRPr>
            </a:pPr>
            <a:r>
              <a:t>세 가지 유형으로 설계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772400" y="5715000"/>
            <a:ext cx="3611880" cy="685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72400" y="5760720"/>
            <a:ext cx="50800" cy="59436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01000" y="5788152"/>
            <a:ext cx="10972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3200" b="1">
                <a:solidFill>
                  <a:srgbClr val="484848"/>
                </a:solidFill>
                <a:latin typeface="Pretendard"/>
              </a:defRPr>
            </a:pPr>
            <a:r>
              <a:t>log1p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0" y="5824728"/>
            <a:ext cx="1965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484848"/>
                </a:solidFill>
                <a:latin typeface="Pretendard"/>
              </a:defRPr>
            </a:pPr>
            <a:r>
              <a:t>타겟 변환</a:t>
            </a:r>
          </a:p>
          <a:p>
            <a:pPr>
              <a:defRPr sz="1100" b="1">
                <a:solidFill>
                  <a:srgbClr val="767676"/>
                </a:solidFill>
                <a:latin typeface="Pretendard"/>
              </a:defRPr>
            </a:pPr>
            <a:r>
              <a:t>skewness 3.76 → 정규분포화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0">
                <a:solidFill>
                  <a:srgbClr val="B0B0B0"/>
                </a:solidFill>
                <a:latin typeface="Pretendard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
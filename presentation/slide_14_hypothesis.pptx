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7개 가설 채택 — 호스트 변수가 RevPAR을 결정한다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64008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4571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💡 인사이트:  비모수 검정(p &lt; 0.001) 기반, 호스트 통제 변수(사진·최소숙박·슈퍼호스트)가 RevPAR에 유의미한 영향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호스트 관점 (H1–H5)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901951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호스트가 통제 가능한 변수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874519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자치구 관점 (H6–H7)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901951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시장 구조·입지 변수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21991"/>
            <a:ext cx="4983480" cy="43891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67711"/>
            <a:ext cx="32004" cy="34747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322575"/>
            <a:ext cx="411480" cy="237744"/>
          </a:xfrm>
          <a:prstGeom prst="roundRect">
            <a:avLst>
              <a:gd name="adj" fmla="val 12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4114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H1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304287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슈퍼호스트 → 수익 프리미엄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304287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300" b="1">
                <a:solidFill>
                  <a:srgbClr val="FF385C"/>
                </a:solidFill>
                <a:latin typeface="Pretendard"/>
              </a:defRPr>
            </a:pPr>
            <a:r>
              <a:t>+83.1%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2304287"/>
            <a:ext cx="5943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200" b="1">
                <a:solidFill>
                  <a:srgbClr val="FF385C"/>
                </a:solidFill>
                <a:latin typeface="Pretendard"/>
              </a:defRPr>
            </a:pPr>
            <a:r>
              <a:t>✓ 채택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15768"/>
            <a:ext cx="4983480" cy="43891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761487"/>
            <a:ext cx="32004" cy="34747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2816351"/>
            <a:ext cx="411480" cy="237744"/>
          </a:xfrm>
          <a:prstGeom prst="roundRect">
            <a:avLst>
              <a:gd name="adj" fmla="val 12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825496"/>
            <a:ext cx="4114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H2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798063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숙소 유형 → 수익 구조 차이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2798063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300" b="1">
                <a:solidFill>
                  <a:srgbClr val="FF385C"/>
                </a:solidFill>
                <a:latin typeface="Pretendard"/>
              </a:defRPr>
            </a:pPr>
            <a:r>
              <a:t>전체숙소 2.7배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2798063"/>
            <a:ext cx="5943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200" b="1">
                <a:solidFill>
                  <a:srgbClr val="FF385C"/>
                </a:solidFill>
                <a:latin typeface="Pretendard"/>
              </a:defRPr>
            </a:pPr>
            <a:r>
              <a:t>✓ 채택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209544"/>
            <a:ext cx="4983480" cy="43891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255263"/>
            <a:ext cx="32004" cy="34747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3310127"/>
            <a:ext cx="411480" cy="237744"/>
          </a:xfrm>
          <a:prstGeom prst="roundRect">
            <a:avLst>
              <a:gd name="adj" fmla="val 12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319272"/>
            <a:ext cx="4114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H3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3291839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사진 수 → 수익 (비선형)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3291839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300" b="1">
                <a:solidFill>
                  <a:srgbClr val="FF385C"/>
                </a:solidFill>
                <a:latin typeface="Pretendard"/>
              </a:defRPr>
            </a:pPr>
            <a:r>
              <a:t>21~35장 최적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3291839"/>
            <a:ext cx="5943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200" b="1">
                <a:solidFill>
                  <a:srgbClr val="FF385C"/>
                </a:solidFill>
                <a:latin typeface="Pretendard"/>
              </a:defRPr>
            </a:pPr>
            <a:r>
              <a:t>✓ 채택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703320"/>
            <a:ext cx="4983480" cy="43891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3749039"/>
            <a:ext cx="32004" cy="34747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77240" y="3803904"/>
            <a:ext cx="411480" cy="237744"/>
          </a:xfrm>
          <a:prstGeom prst="roundRect">
            <a:avLst>
              <a:gd name="adj" fmla="val 12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3813048"/>
            <a:ext cx="4114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H4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3785615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최소숙박일 → 수익 영향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3785615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300" b="1">
                <a:solidFill>
                  <a:srgbClr val="FF385C"/>
                </a:solidFill>
                <a:latin typeface="Pretendard"/>
              </a:defRPr>
            </a:pPr>
            <a:r>
              <a:t>2~3박 최적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3785615"/>
            <a:ext cx="5943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200" b="1">
                <a:solidFill>
                  <a:srgbClr val="FF385C"/>
                </a:solidFill>
                <a:latin typeface="Pretendard"/>
              </a:defRPr>
            </a:pPr>
            <a:r>
              <a:t>✓ 채택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197096"/>
            <a:ext cx="4983480" cy="43891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4242816"/>
            <a:ext cx="32004" cy="34747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77240" y="4297680"/>
            <a:ext cx="411480" cy="237744"/>
          </a:xfrm>
          <a:prstGeom prst="roundRect">
            <a:avLst>
              <a:gd name="adj" fmla="val 12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4306824"/>
            <a:ext cx="4114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H5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4279392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추가요금 정책 → 수익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1920" y="42793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300" b="1">
                <a:solidFill>
                  <a:srgbClr val="FF385C"/>
                </a:solidFill>
                <a:latin typeface="Pretendard"/>
              </a:defRPr>
            </a:pPr>
            <a:r>
              <a:t>지역별 차이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83480" y="427939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200" b="1">
                <a:solidFill>
                  <a:srgbClr val="FF385C"/>
                </a:solidFill>
                <a:latin typeface="Pretendard"/>
              </a:defRPr>
            </a:pPr>
            <a:r>
              <a:t>✓ 채택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0" y="2221991"/>
            <a:ext cx="5303520" cy="43891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943600" y="2267711"/>
            <a:ext cx="32004" cy="34747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080760" y="2322575"/>
            <a:ext cx="411480" cy="237744"/>
          </a:xfrm>
          <a:prstGeom prst="roundRect">
            <a:avLst>
              <a:gd name="adj" fmla="val 12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60" y="2331720"/>
            <a:ext cx="4114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H6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2304287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공급 집중 → 수익 하락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55480" y="2304287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300" b="1">
                <a:solidFill>
                  <a:srgbClr val="FF385C"/>
                </a:solidFill>
                <a:latin typeface="Pretendard"/>
              </a:defRPr>
            </a:pPr>
            <a:r>
              <a:t>마포구 리스크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40" y="2304287"/>
            <a:ext cx="5943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200" b="1">
                <a:solidFill>
                  <a:srgbClr val="FF385C"/>
                </a:solidFill>
                <a:latin typeface="Pretendard"/>
              </a:defRPr>
            </a:pPr>
            <a:r>
              <a:t>✓ 채택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43600" y="2715768"/>
            <a:ext cx="5303520" cy="43891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943600" y="2761487"/>
            <a:ext cx="32004" cy="34747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080760" y="2816351"/>
            <a:ext cx="411480" cy="237744"/>
          </a:xfrm>
          <a:prstGeom prst="roundRect">
            <a:avLst>
              <a:gd name="adj" fmla="val 12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80760" y="2825496"/>
            <a:ext cx="4114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H7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2798063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관광지 유형 → 수익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55480" y="2798063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300" b="1">
                <a:solidFill>
                  <a:srgbClr val="FF385C"/>
                </a:solidFill>
                <a:latin typeface="Pretendard"/>
              </a:defRPr>
            </a:pPr>
            <a:r>
              <a:t>여행코스 최고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07040" y="2798063"/>
            <a:ext cx="5943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200" b="1">
                <a:solidFill>
                  <a:srgbClr val="FF385C"/>
                </a:solidFill>
                <a:latin typeface="Pretendard"/>
              </a:defRPr>
            </a:pPr>
            <a:r>
              <a:t>✓ 채택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943600" y="3300984"/>
            <a:ext cx="5303520" cy="38404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943600" y="3355848"/>
            <a:ext cx="32004" cy="27432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26480" y="3374136"/>
            <a:ext cx="4937759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H8·H9 부분 채택 → Appendix 참조 (자치구 소표본 n=25)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4892040"/>
            <a:ext cx="5074920" cy="8229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0080" y="4946903"/>
            <a:ext cx="32004" cy="7132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59" y="4965192"/>
            <a:ext cx="4709159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3600" b="1">
                <a:solidFill>
                  <a:srgbClr val="FF385C"/>
                </a:solidFill>
                <a:latin typeface="Pretendard"/>
              </a:defRPr>
            </a:pPr>
            <a:r>
              <a:t>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59" y="5394959"/>
            <a:ext cx="4709159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채택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989320" y="4892040"/>
            <a:ext cx="5074920" cy="8229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989320" y="4946903"/>
            <a:ext cx="32004" cy="7132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72200" y="4965192"/>
            <a:ext cx="4709159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3600" b="1">
                <a:solidFill>
                  <a:srgbClr val="00A699"/>
                </a:solidFill>
                <a:latin typeface="Pretendard"/>
              </a:defRPr>
            </a:pPr>
            <a:r>
              <a:t>p &lt; 0.001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72200" y="5394959"/>
            <a:ext cx="4709159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모든 결과 유의미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Appendix — 부분 채택 가설 (H8, H9)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54864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36575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💡 자치구 수준(n=25) 소표본 분석으로 통계적 검정력이 제한적이며, 보수적으로 부분 채택 판정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789920" cy="14630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32004" cy="1280160"/>
          </a:xfrm>
          <a:prstGeom prst="rect">
            <a:avLst/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103120"/>
            <a:ext cx="457200" cy="274320"/>
          </a:xfrm>
          <a:prstGeom prst="roundRect">
            <a:avLst>
              <a:gd name="adj" fmla="val 12000"/>
            </a:avLst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122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H8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0848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1">
                <a:solidFill>
                  <a:srgbClr val="484848"/>
                </a:solidFill>
                <a:latin typeface="Pretendard"/>
              </a:defRPr>
            </a:pPr>
            <a:r>
              <a:t>인구 규모 → 수익 관계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423160"/>
            <a:ext cx="9418320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결과:  약한 음의 상관 — 인구가 많은 자치구일수록 RevPAR이 소폭 낮음</a:t>
            </a:r>
          </a:p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해석:  인구 규모는 숙소 공급량과 연동되어 경쟁 심화 효과가 나타나지만,</a:t>
            </a:r>
          </a:p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         상관계수가 낮아 단독 예측 변수로는 부족 → 부분 채택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1031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1">
                <a:solidFill>
                  <a:srgbClr val="FC642D"/>
                </a:solidFill>
                <a:latin typeface="Pretendard"/>
              </a:defRPr>
            </a:pPr>
            <a:r>
              <a:t>△ 부분채택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10789920" cy="14630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749039"/>
            <a:ext cx="32004" cy="1280160"/>
          </a:xfrm>
          <a:prstGeom prst="rect">
            <a:avLst/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59" y="3840480"/>
            <a:ext cx="457200" cy="274320"/>
          </a:xfrm>
          <a:prstGeom prst="roundRect">
            <a:avLst>
              <a:gd name="adj" fmla="val 12000"/>
            </a:avLst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84962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H9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3822191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1">
                <a:solidFill>
                  <a:srgbClr val="484848"/>
                </a:solidFill>
                <a:latin typeface="Pretendard"/>
              </a:defRPr>
            </a:pPr>
            <a:r>
              <a:t>Dormant 비율 → 시장 건전성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4160520"/>
            <a:ext cx="9418320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결과:  음의 상관 — Dormant 비율이 높은 자치구일수록 RevPAR 하락</a:t>
            </a:r>
          </a:p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해석:  비활성 리스팅은 시장 포화·경쟁 실패의 신호이나,</a:t>
            </a:r>
          </a:p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         n=25 소표본에서 인과 추론은 제한적 → 부분 채택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84048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1">
                <a:solidFill>
                  <a:srgbClr val="FC642D"/>
                </a:solidFill>
                <a:latin typeface="Pretendard"/>
              </a:defRPr>
            </a:pPr>
            <a:r>
              <a:t>△ 부분채택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A-1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
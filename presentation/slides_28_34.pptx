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비즈니스 모델 — 무료에서 시작, 단계별 확장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무료 위험 감지로 진입장벽 제거 → 가치를 경험한 호스트가 유료 전환하는 Freemium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484848"/>
                </a:solidFill>
                <a:latin typeface="Pretendard"/>
              </a:defRPr>
            </a:pPr>
            <a: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00A699"/>
                </a:solidFill>
                <a:latin typeface="Pretendard"/>
              </a:defRPr>
            </a:pPr>
            <a:r>
              <a:t>무료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324612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숙소 사전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위험 신호 알림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이메일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7368" y="37033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484848"/>
                </a:solidFill>
                <a:latin typeface="Pretendard"/>
              </a:defRPr>
            </a:pPr>
            <a:r>
              <a:t>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FF385C"/>
                </a:solidFill>
                <a:latin typeface="Pretendard"/>
              </a:defRPr>
            </a:pPr>
            <a:r>
              <a:t>W9,900/월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324612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수익 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기본 최적화 가이드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5262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484848"/>
                </a:solidFill>
                <a:latin typeface="Pretendard"/>
              </a:defRPr>
            </a:pPr>
            <a:r>
              <a:t>· 행동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37033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196596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331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FFFFFF"/>
                </a:solidFill>
                <a:latin typeface="Pretendard"/>
              </a:defRPr>
            </a:pPr>
            <a: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788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문의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246120"/>
            <a:ext cx="237744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5204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· AI 에이전트 자동분석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02335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· 맞춤 가설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5262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· 자동 리포팅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24/7 위험 감지 — 5개 규칙이 쉬지 않습니다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데이터 변경 시 자동 실행 → 리스크 분류 → HIGH 발견 시 즉시 이메일 알림. 호스트 개입 없이 24시간 동작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19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높음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유령수익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19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리뷰 0 + 수익 &gt; 1천만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79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79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점유율-수익</a:t>
            </a:r>
          </a:p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불일치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점유율 0% &amp; 수익 &gt;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1783080"/>
            <a:ext cx="1828800" cy="32004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7492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C642D"/>
                </a:solidFill>
                <a:latin typeface="Pretendard"/>
              </a:defRPr>
            </a:pPr>
            <a:r>
              <a:t>중간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가격 이상치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ADR &gt; 구평균+3σ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78040" y="1783080"/>
            <a:ext cx="1828800" cy="32004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2376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C642D"/>
                </a:solidFill>
                <a:latin typeface="Pretendard"/>
              </a:defRPr>
            </a:pPr>
            <a:r>
              <a:t>중간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유령 액티브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Active &amp; 수익 &lt; 5백만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5440" y="1783080"/>
            <a:ext cx="2011680" cy="1417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0" y="1783080"/>
            <a:ext cx="1828800" cy="3200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72600" y="1920240"/>
            <a:ext cx="384048" cy="219456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19293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R5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69880" y="1920240"/>
            <a:ext cx="640080" cy="219456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9880" y="192938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1">
                <a:solidFill>
                  <a:srgbClr val="FF385C"/>
                </a:solidFill>
                <a:latin typeface="Pretendard"/>
              </a:defRPr>
            </a:pPr>
            <a:r>
              <a:t>높음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2402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평점 없는</a:t>
            </a:r>
          </a:p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고수익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2743200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19" y="2788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수익 &gt; 1천만 &amp; 평점 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자동 실행 플로우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데이터 변경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hooks.py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8608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61488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98648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R1~R5 검사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8648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detector.py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0016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82896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0056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IQR / Z-score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0056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scorer.py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1424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04304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41464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리스크 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41464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HIGH / 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42832" y="38862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25712" y="3703320"/>
            <a:ext cx="1920240" cy="68580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25712" y="3758183"/>
            <a:ext cx="32004" cy="57607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62872" y="38130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이메일 알림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62872" y="40873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자동 발송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47091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0080" y="4764024"/>
            <a:ext cx="32004" cy="39319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00A699"/>
                </a:solidFill>
                <a:latin typeface="Pretendard"/>
              </a:defRPr>
            </a:pPr>
            <a:r>
              <a:t>Claude Code Hooks 기반 — 데이터 파일 수정 시 자동 트리거, 중복 알림 7일 필터, HIGH 리스크(2개+ 규칙) 시에만 이메일 발송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394960"/>
            <a:ext cx="5212080" cy="8229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" y="5449824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59" y="54864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14건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59" y="5852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전체 플래그 탐지 (R1: 14건, R3: 3건)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35040" y="5394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35040" y="5449824"/>
            <a:ext cx="32004" cy="7132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5486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3600" b="1">
                <a:solidFill>
                  <a:srgbClr val="FF385C"/>
                </a:solidFill>
                <a:latin typeface="Pretendard"/>
              </a:defRPr>
            </a:pPr>
            <a:r>
              <a:t>HIGH 1건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5852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0">
                <a:solidFill>
                  <a:srgbClr val="767676"/>
                </a:solidFill>
                <a:latin typeface="Pretendard"/>
              </a:defRPr>
            </a:pPr>
            <a:r>
              <a:t>listing_idx=5996 · 송파구 · W20.8M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호스트 컨설팅 대시보드 — 핵심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호스트가 직접 조건을 입력하면 즉시 시장 위치 · 건강점수 · 수익 예측 · 최적 요금을 확인할 수 있는 올인원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Streamlit 기반 · 실시간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59152"/>
            <a:ext cx="36576" cy="76809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42316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39572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시장 위치 4분면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69748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내 숙소가 서울에서 어디에 있는지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한눈에 확인 (전체 · 자치구 · 유형별)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56432"/>
            <a:ext cx="36576" cy="76809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52044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49300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건강점수 게이지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79476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0~100점 + A~F 등급으로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숙소 상태 종합 진단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8056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553712"/>
            <a:ext cx="36576" cy="76809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61772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3600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59028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수익 예측 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89204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예측 수익 / 시장 대비 위치 /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개선 잠재력 시각화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77840"/>
            <a:ext cx="5120640" cy="9144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50992"/>
            <a:ext cx="36576" cy="7680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5715000"/>
            <a:ext cx="411480" cy="32004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73328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5687568"/>
            <a:ext cx="402335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AI 시장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5989320"/>
            <a:ext cx="4023359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적정 요금 vs 현재 요금 비교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군집별 최적 가격 제안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2011680"/>
            <a:ext cx="5349240" cy="41605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2148840"/>
            <a:ext cx="5074920" cy="36576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176272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분석 결과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697480"/>
            <a:ext cx="146304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7432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00" b="0">
                <a:solidFill>
                  <a:srgbClr val="767676"/>
                </a:solidFill>
                <a:latin typeface="Pretendard"/>
              </a:defRPr>
            </a:pPr>
            <a:r>
              <a:t>전체 1박 요금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W141,517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2697480"/>
            <a:ext cx="146304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9" y="27432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00" b="0">
                <a:solidFill>
                  <a:srgbClr val="767676"/>
                </a:solidFill>
                <a:latin typeface="Pretendard"/>
              </a:defRPr>
            </a:pPr>
            <a:r>
              <a:t>하루 실수익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9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W84,910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55480" y="2697480"/>
            <a:ext cx="146304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19" y="27432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900" b="0">
                <a:solidFill>
                  <a:srgbClr val="767676"/>
                </a:solidFill>
                <a:latin typeface="Pretendard"/>
              </a:defRPr>
            </a:pPr>
            <a:r>
              <a:t>월 예상 순이익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19" y="2971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300" b="1">
                <a:solidFill>
                  <a:srgbClr val="FF385C"/>
                </a:solidFill>
                <a:latin typeface="Pretendard"/>
              </a:defRPr>
            </a:pPr>
            <a:r>
              <a:t>W1,930,886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3520440"/>
            <a:ext cx="14630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54787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전체 예약률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60%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3520440"/>
            <a:ext cx="14630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354787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평일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5480" y="3520440"/>
            <a:ext cx="1463040" cy="502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19" y="3547872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주말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19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42062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B0B0B0"/>
                </a:solidFill>
                <a:latin typeface="Pretendard"/>
              </a:defRPr>
            </a:pPr>
            <a:r>
              <a:t>* 실제 대시보드에서 조건별 실시간 시뮬레이션 가능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6364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수익 요약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6948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요금 전략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7532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주변 관광지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8116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8116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운영 개선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87000" y="4572000"/>
            <a:ext cx="914400" cy="228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45994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800" b="0">
                <a:solidFill>
                  <a:srgbClr val="767676"/>
                </a:solidFill>
                <a:latin typeface="Pretendard"/>
              </a:defRPr>
            </a:pPr>
            <a:r>
              <a:t>지역 진단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594360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" y="5998464"/>
            <a:ext cx="32004" cy="30175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6016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같은 지역 · 같은 유형 숙소 대비 상대 점수 → 호스트가 즉시 약점 파악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자동화 시스템 + AI 에이전트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4864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3657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💡 인사이트:  Orchestrator가 6개 에이전트를 순차 호출, 도메인 리서치부터 모델 검증까지 End-to-End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FF385C"/>
                </a:solidFill>
                <a:latin typeface="Pretendard"/>
              </a:defRPr>
            </a:pPr>
            <a:r>
              <a:t>① 위험 감지 자동화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데이터 변경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hooks.py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5규칙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detector.py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통계 보조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scorer.py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4304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위험도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7일 중복 필터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331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6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2103120"/>
            <a:ext cx="1920240" cy="73152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2872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이메일</a:t>
            </a:r>
          </a:p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발송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2606039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email_alert.py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500" b="1">
                <a:solidFill>
                  <a:srgbClr val="00A699"/>
                </a:solidFill>
                <a:latin typeface="Pretendard"/>
              </a:defRPr>
            </a:pPr>
            <a:r>
              <a:t>② AI 에이전트 구성 (Enterprise)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5486400" cy="3657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오케스트레이터 (순차 호출)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886200"/>
            <a:ext cx="160020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도메인 연구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도메인 지식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50591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96311" y="3886200"/>
            <a:ext cx="1600200" cy="27432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42032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가설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2032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H1~H9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61104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06824" y="3886200"/>
            <a:ext cx="1600200" cy="2743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2544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탐색적 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2544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38개 차트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71616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17336" y="3886200"/>
            <a:ext cx="160020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5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변수 설계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3055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14개 변수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82127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27848" y="3886200"/>
            <a:ext cx="160020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7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모델링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7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ML+AI분석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92640" y="388620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38360" y="3886200"/>
            <a:ext cx="1600200" cy="2743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402336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1">
                <a:solidFill>
                  <a:srgbClr val="484848"/>
                </a:solidFill>
                <a:latin typeface="Pretendard"/>
              </a:defRPr>
            </a:pPr>
            <a:r>
              <a:t>모델 검수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4343400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→ 품질 평가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892040"/>
            <a:ext cx="10789920" cy="45720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956048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700" b="1">
                <a:solidFill>
                  <a:srgbClr val="FF385C"/>
                </a:solidFill>
                <a:latin typeface="Pretendard"/>
              </a:defRPr>
            </a:pPr>
            <a:r>
              <a:t>결과: 9개 가설 검증 / 14개 변수 설계 / 정확도 R²=0.85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5541264"/>
            <a:ext cx="32004" cy="62179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FF385C"/>
                </a:solidFill>
                <a:latin typeface="Pretendard"/>
              </a:defRPr>
            </a:pPr>
            <a: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가설 검증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33756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37560" y="5541264"/>
            <a:ext cx="32004" cy="62179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00A699"/>
                </a:solidFill>
                <a:latin typeface="Pretendard"/>
              </a:defRPr>
            </a:pPr>
            <a: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파생변수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504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35040" y="5541264"/>
            <a:ext cx="32004" cy="62179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4A90D9"/>
                </a:solidFill>
                <a:latin typeface="Pretendard"/>
              </a:defRPr>
            </a:pPr>
            <a:r>
              <a:t>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차트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2520" y="5486400"/>
            <a:ext cx="2514600" cy="7315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32520" y="5541264"/>
            <a:ext cx="32004" cy="6217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0" y="555955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800" b="1">
                <a:solidFill>
                  <a:srgbClr val="8E44AD"/>
                </a:solidFill>
                <a:latin typeface="Pretendard"/>
              </a:defRPr>
            </a:pPr>
            <a:r>
              <a:t>R² 0.85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594360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모델 성능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데이터로 호스트의 수익을 설계하다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0">
                <a:solidFill>
                  <a:srgbClr val="767676"/>
                </a:solidFill>
                <a:latin typeface="Pretendard"/>
              </a:defRPr>
            </a:pPr>
            <a:r>
              <a:t>분석 → 모델 → 대시보드 → 자동화 → 액션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6576" cy="16459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5600" b="1">
                <a:solidFill>
                  <a:srgbClr val="FF385C"/>
                </a:solidFill>
                <a:latin typeface="Pretendard"/>
              </a:defRPr>
            </a:pPr>
            <a: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이중 예측 모델로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RevPAR의 85% 설명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36576" cy="16459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5600" b="1">
                <a:solidFill>
                  <a:srgbClr val="00A699"/>
                </a:solidFill>
                <a:latin typeface="Pretendard"/>
              </a:defRPr>
            </a:pPr>
            <a:r>
              <a:t>A~F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건강점수로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숙소 상태 종합 진단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36576" cy="1645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5600" b="1">
                <a:solidFill>
                  <a:srgbClr val="4A90D9"/>
                </a:solidFill>
                <a:latin typeface="Pretendard"/>
              </a:defRPr>
            </a:pPr>
            <a: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5가지 규칙으로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쉬지 않고 위험 감시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36576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5600" b="1">
                <a:solidFill>
                  <a:srgbClr val="8E44AD"/>
                </a:solidFill>
                <a:latin typeface="Pretendard"/>
              </a:defRPr>
            </a:pPr>
            <a:r>
              <a:t>E2E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분석 → 대시보드</a:t>
            </a:r>
          </a:p>
          <a:p>
            <a:pPr algn="l">
              <a:defRPr sz="1600" b="0">
                <a:solidFill>
                  <a:srgbClr val="767676"/>
                </a:solidFill>
                <a:latin typeface="Pretendard"/>
              </a:defRPr>
            </a:pPr>
            <a:r>
              <a:t>→ 자동화 →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6072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338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Pretendard"/>
              </a:defRPr>
            </a:pPr>
            <a:r>
              <a:t>이 프로젝트는 분석에서 끝나지 않습니다. 호스트의 행동을 바꿉니다.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한계점 및 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현재 한계점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120640" cy="4297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645920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64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계절성 및 이벤트 미반영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0195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명절, 대형 행사, 계절 변동성 등 외부 요인이 모델에 포함되지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450592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46888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5059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규제 영향 미반영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0662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2025-10-16 시행된 규제 이후 데이터가 분석에 반영되지 않음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3255264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27355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5526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정적 배치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1129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실시간 데이터 처리가 아닌 배치 방식으로 즉각적인 대응 제한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4059936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07822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59936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단일 시점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1596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다기간 예측 및 시나리오 분석 기능 부재로 전략 수립 제약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4864608"/>
            <a:ext cx="274320" cy="228600"/>
          </a:xfrm>
          <a:prstGeom prst="roundRect">
            <a:avLst>
              <a:gd name="adj" fmla="val 8000"/>
            </a:avLst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8828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86460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484848"/>
                </a:solidFill>
                <a:latin typeface="Pretendard"/>
              </a:defRPr>
            </a:pPr>
            <a:r>
              <a:t>웹 배포 미완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2064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호스트가 직접 접근 가능한 웹 서비스로 배포되지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11430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700" b="1">
                <a:solidFill>
                  <a:srgbClr val="484848"/>
                </a:solidFill>
                <a:latin typeface="Pretendard"/>
              </a:defRPr>
            </a:pPr>
            <a:r>
              <a:t>향후 로드맵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508760"/>
            <a:ext cx="36576" cy="9144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1508760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52704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단기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82880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규제 이후 데이터 재수집 및 모델 재학습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574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2025-10-16 규제 시행 이후 시장 변화를 반영한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데이터 재수집 및 LightGBM 모델 재학습 진행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560320"/>
            <a:ext cx="36576" cy="91440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2560320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57860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2026 상반기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8036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실시간 스트리밍 파이프라인 구축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0896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배치 방식에서 실시간 처리로 전환하여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즉각적인 이상 탐지 및 예측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611879"/>
            <a:ext cx="36576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3640" y="3611879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63016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2026 하반기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931920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다기간 예측 및 시나리오 분석 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1605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1개월/3개월/6개월 예측 및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What-if 시나리오 분석 기능 추가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4663440"/>
            <a:ext cx="36576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63640" y="4663440"/>
            <a:ext cx="1005840" cy="2286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681727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장기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983479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웹 배포 및 접근성(WCAG) 고도화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21207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호스트 직접 접근 가능한 웹 서비스 배포</a:t>
            </a:r>
          </a:p>
          <a:p>
            <a:pPr algn="l">
              <a:defRPr sz="1100" b="0">
                <a:solidFill>
                  <a:srgbClr val="767676"/>
                </a:solidFill>
                <a:latin typeface="Pretendard"/>
              </a:defRPr>
            </a:pPr>
            <a:r>
              <a:t>및 WCAG 2.1 AA 수준 접근성 준수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4360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5998464"/>
            <a:ext cx="32004" cy="30175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00A699"/>
                </a:solidFill>
                <a:latin typeface="Pretendard"/>
              </a:defRPr>
            </a:pPr>
            <a:r>
              <a:t>지속적인 개선과 확장을 통해 호스트와 플랫폼 모두에게 실질적인 가치를 제공하는 시스템으로 발전시켜 나가겠습니다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95247" y="731520"/>
            <a:ext cx="9601200" cy="3840480"/>
          </a:xfrm>
          <a:prstGeom prst="roundRect">
            <a:avLst>
              <a:gd name="adj" fmla="val 15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5247" y="16459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6400" b="1">
                <a:solidFill>
                  <a:srgbClr val="FFFFFF"/>
                </a:solidFill>
                <a:latin typeface="Pretendard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247" y="283463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2200" b="0">
                <a:solidFill>
                  <a:srgbClr val="FFFFFF"/>
                </a:solidFill>
                <a:latin typeface="Pretendard"/>
              </a:defRPr>
            </a:pPr>
            <a:r>
              <a:t>질문과 의견을 환영합니다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6847" y="3566160"/>
            <a:ext cx="685800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385C"/>
                </a:solidFill>
                <a:latin typeface="Pretendard"/>
              </a:defRPr>
            </a:pPr>
            <a:r>
              <a:t>팀 구매확정 · 김수빈 · 이영은 · 이정모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
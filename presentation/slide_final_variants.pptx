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플랫폼 생태계 선순환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단순한 인사이트를 넘어, 플랫폼 생태계의 선순환을 만드는 데이터 분석을 진행하였습니다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8923" y="2048256"/>
            <a:ext cx="2331720" cy="274320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347" y="2011680"/>
            <a:ext cx="2331720" cy="2743200"/>
          </a:xfrm>
          <a:prstGeom prst="roundRect">
            <a:avLst>
              <a:gd name="adj" fmla="val 5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2347" y="2011680"/>
            <a:ext cx="2331720" cy="54864"/>
          </a:xfrm>
          <a:prstGeom prst="roundRect">
            <a:avLst>
              <a:gd name="adj" fmla="val 5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89607" y="2286000"/>
            <a:ext cx="457200" cy="457200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9607" y="2286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507" y="292608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700" b="1">
                <a:solidFill>
                  <a:srgbClr val="484848"/>
                </a:solidFill>
                <a:latin typeface="Pretendard"/>
              </a:defRPr>
            </a:pPr>
            <a:r>
              <a:t>호스트 최적화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6667" y="3383280"/>
            <a:ext cx="1783079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5227" y="35661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SHAP 기반 액션 추천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5227" y="39319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건강점수 진단 → 개선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2355" y="3200400"/>
            <a:ext cx="27432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40683" y="2048256"/>
            <a:ext cx="2331720" cy="274320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04107" y="2011680"/>
            <a:ext cx="2331720" cy="2743200"/>
          </a:xfrm>
          <a:prstGeom prst="roundRect">
            <a:avLst>
              <a:gd name="adj" fmla="val 5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04107" y="2011680"/>
            <a:ext cx="2331720" cy="54864"/>
          </a:xfrm>
          <a:prstGeom prst="roundRect">
            <a:avLst>
              <a:gd name="adj" fmla="val 5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41367" y="2286000"/>
            <a:ext cx="457200" cy="45720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1367" y="2286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1267" y="292608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700" b="1">
                <a:solidFill>
                  <a:srgbClr val="484848"/>
                </a:solidFill>
                <a:latin typeface="Pretendard"/>
              </a:defRPr>
            </a:pPr>
            <a:r>
              <a:t>게스트 경험 향상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78427" y="3383280"/>
            <a:ext cx="1783079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6987" y="35661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높은 평점 · 적정 가격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6987" y="39319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최적 예약정책 → 만족도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4115" y="3200400"/>
            <a:ext cx="27432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2443" y="2048256"/>
            <a:ext cx="2331720" cy="274320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55867" y="2011680"/>
            <a:ext cx="2331720" cy="27432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55867" y="2011680"/>
            <a:ext cx="2331720" cy="54864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93127" y="228600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93127" y="2286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3027" y="292608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700" b="1">
                <a:solidFill>
                  <a:srgbClr val="484848"/>
                </a:solidFill>
                <a:latin typeface="Pretendard"/>
              </a:defRPr>
            </a:pPr>
            <a:r>
              <a:t>플랫폼 데이터 축적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0187" y="3383280"/>
            <a:ext cx="1783079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8747" y="35661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리뷰 증가 · 예약 패턴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8747" y="39319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시장 인텔리전스 강화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5875" y="3200400"/>
            <a:ext cx="27432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44203" y="2048256"/>
            <a:ext cx="2331720" cy="274320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07627" y="2011680"/>
            <a:ext cx="2331720" cy="2743200"/>
          </a:xfrm>
          <a:prstGeom prst="roundRect">
            <a:avLst>
              <a:gd name="adj" fmla="val 5000"/>
            </a:avLst>
          </a:prstGeom>
          <a:solidFill>
            <a:srgbClr val="F3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07627" y="2011680"/>
            <a:ext cx="2331720" cy="54864"/>
          </a:xfrm>
          <a:prstGeom prst="roundRect">
            <a:avLst>
              <a:gd name="adj" fmla="val 5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844887" y="2286000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44887" y="2286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4787" y="292608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700" b="1">
                <a:solidFill>
                  <a:srgbClr val="484848"/>
                </a:solidFill>
                <a:latin typeface="Pretendard"/>
              </a:defRPr>
            </a:pPr>
            <a:r>
              <a:t>더 나은 인사이트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1947" y="3383280"/>
            <a:ext cx="1783079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0507" y="35661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모델 정밀도 향상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0507" y="39319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맞춤 전략 고도화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2347" y="5074920"/>
            <a:ext cx="10287000" cy="5029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2347" y="5074920"/>
            <a:ext cx="36576" cy="50292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0947" y="5120640"/>
            <a:ext cx="9829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4 → 1  더 나은 인사이트가 다시 호스트 최적화로 — 자생적 개선 루프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플랫폼 생태계 선순환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단순한 인사이트를 넘어, 플랫폼 생태계의 선순환을 만드는 데이터 분석을 진행하였습니다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956816"/>
            <a:ext cx="3410712" cy="429768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410712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410712" cy="54864"/>
          </a:xfrm>
          <a:prstGeom prst="roundRect">
            <a:avLst>
              <a:gd name="adj" fmla="val 5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1115" y="2148840"/>
            <a:ext cx="548640" cy="548640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1115" y="21488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34640"/>
            <a:ext cx="3044952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800" b="1">
                <a:solidFill>
                  <a:srgbClr val="484848"/>
                </a:solidFill>
                <a:latin typeface="Pretendard"/>
              </a:defRPr>
            </a:pPr>
            <a:r>
              <a:t>호스트 가치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54680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400" b="1">
                <a:solidFill>
                  <a:srgbClr val="FF385C"/>
                </a:solidFill>
                <a:latin typeface="Pretendard"/>
              </a:defRPr>
            </a:pPr>
            <a:r>
              <a:t>RevPAR +85%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611880"/>
            <a:ext cx="2679191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867912"/>
            <a:ext cx="109728" cy="10972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794760"/>
            <a:ext cx="2679191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SHAP 기반 액션 우선순위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251960"/>
            <a:ext cx="109728" cy="10972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178808"/>
            <a:ext cx="2679191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건강점수로 취약점 진단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636008"/>
            <a:ext cx="109728" cy="10972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562856"/>
            <a:ext cx="2679191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자치구 벤치마킹 포지셔닝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020056"/>
            <a:ext cx="109728" cy="10972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946904"/>
            <a:ext cx="2679191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리스크 사전 감지 알림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15000"/>
            <a:ext cx="3136392" cy="3657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733288"/>
            <a:ext cx="3136392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200" b="1">
                <a:solidFill>
                  <a:srgbClr val="767676"/>
                </a:solidFill>
                <a:latin typeface="Pretendard"/>
              </a:defRPr>
            </a:pPr>
            <a:r>
              <a:t>수익 극대화의 과학적 근거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1956816"/>
            <a:ext cx="3410712" cy="429768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25112" y="1920240"/>
            <a:ext cx="3410712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25112" y="1920240"/>
            <a:ext cx="3410712" cy="54864"/>
          </a:xfrm>
          <a:prstGeom prst="roundRect">
            <a:avLst>
              <a:gd name="adj" fmla="val 5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56148" y="2148840"/>
            <a:ext cx="548640" cy="54864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56148" y="21488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2834640"/>
            <a:ext cx="3044952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800" b="1">
                <a:solidFill>
                  <a:srgbClr val="484848"/>
                </a:solidFill>
                <a:latin typeface="Pretendard"/>
              </a:defRPr>
            </a:pPr>
            <a:r>
              <a:t>게스트 가치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3154680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400" b="1">
                <a:solidFill>
                  <a:srgbClr val="00A699"/>
                </a:solidFill>
                <a:latin typeface="Pretendard"/>
              </a:defRPr>
            </a:pPr>
            <a:r>
              <a:t>품질 표준화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90872" y="3611880"/>
            <a:ext cx="2679191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99432" y="3867912"/>
            <a:ext cx="109728" cy="109728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3794760"/>
            <a:ext cx="2679191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사진 21~35장 가이드라인</a:t>
            </a:r>
          </a:p>
        </p:txBody>
      </p:sp>
      <p:sp>
        <p:nvSpPr>
          <p:cNvPr id="34" name="Oval 33"/>
          <p:cNvSpPr/>
          <p:nvPr/>
        </p:nvSpPr>
        <p:spPr>
          <a:xfrm>
            <a:off x="4599432" y="4251960"/>
            <a:ext cx="109728" cy="109728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8032" y="4178808"/>
            <a:ext cx="2679191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평점 4.85+ 유지 인센티브</a:t>
            </a:r>
          </a:p>
        </p:txBody>
      </p:sp>
      <p:sp>
        <p:nvSpPr>
          <p:cNvPr id="36" name="Oval 35"/>
          <p:cNvSpPr/>
          <p:nvPr/>
        </p:nvSpPr>
        <p:spPr>
          <a:xfrm>
            <a:off x="4599432" y="4636008"/>
            <a:ext cx="109728" cy="109728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28032" y="4562856"/>
            <a:ext cx="2679191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최소숙박 2~3박 최적화</a:t>
            </a:r>
          </a:p>
        </p:txBody>
      </p:sp>
      <p:sp>
        <p:nvSpPr>
          <p:cNvPr id="38" name="Oval 37"/>
          <p:cNvSpPr/>
          <p:nvPr/>
        </p:nvSpPr>
        <p:spPr>
          <a:xfrm>
            <a:off x="4599432" y="5020056"/>
            <a:ext cx="109728" cy="109728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28032" y="4946904"/>
            <a:ext cx="2679191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즉시예약 활성화 촉진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62272" y="5715000"/>
            <a:ext cx="3136392" cy="3657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5733288"/>
            <a:ext cx="3136392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200" b="1">
                <a:solidFill>
                  <a:srgbClr val="767676"/>
                </a:solidFill>
                <a:latin typeface="Pretendard"/>
              </a:defRPr>
            </a:pPr>
            <a:r>
              <a:t>예측 가능한 숙박 경험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19" y="1956816"/>
            <a:ext cx="3410712" cy="429768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10144" y="1920240"/>
            <a:ext cx="3410712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010144" y="1920240"/>
            <a:ext cx="3410712" cy="54864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41180" y="2148840"/>
            <a:ext cx="548640" cy="54864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41180" y="21488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3023" y="2834640"/>
            <a:ext cx="3044952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800" b="1">
                <a:solidFill>
                  <a:srgbClr val="484848"/>
                </a:solidFill>
                <a:latin typeface="Pretendard"/>
              </a:defRPr>
            </a:pPr>
            <a:r>
              <a:t>플랫폼 가치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3" y="3154680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400" b="1">
                <a:solidFill>
                  <a:srgbClr val="4A90D9"/>
                </a:solidFill>
                <a:latin typeface="Pretendard"/>
              </a:defRPr>
            </a:pPr>
            <a:r>
              <a:t>Dormant 54%→↓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75904" y="3611880"/>
            <a:ext cx="2679191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284464" y="3867912"/>
            <a:ext cx="109728" cy="109728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13064" y="3794760"/>
            <a:ext cx="2679191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비활성 리스팅 조기 식별</a:t>
            </a:r>
          </a:p>
        </p:txBody>
      </p:sp>
      <p:sp>
        <p:nvSpPr>
          <p:cNvPr id="52" name="Oval 51"/>
          <p:cNvSpPr/>
          <p:nvPr/>
        </p:nvSpPr>
        <p:spPr>
          <a:xfrm>
            <a:off x="8284464" y="4251960"/>
            <a:ext cx="109728" cy="109728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13064" y="4178808"/>
            <a:ext cx="2679191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시장 유형별 맞춤 정책</a:t>
            </a:r>
          </a:p>
        </p:txBody>
      </p:sp>
      <p:sp>
        <p:nvSpPr>
          <p:cNvPr id="54" name="Oval 53"/>
          <p:cNvSpPr/>
          <p:nvPr/>
        </p:nvSpPr>
        <p:spPr>
          <a:xfrm>
            <a:off x="8284464" y="4636008"/>
            <a:ext cx="109728" cy="109728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13064" y="4562856"/>
            <a:ext cx="2679191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공급 과잉 자치구 경보</a:t>
            </a:r>
          </a:p>
        </p:txBody>
      </p:sp>
      <p:sp>
        <p:nvSpPr>
          <p:cNvPr id="56" name="Oval 55"/>
          <p:cNvSpPr/>
          <p:nvPr/>
        </p:nvSpPr>
        <p:spPr>
          <a:xfrm>
            <a:off x="8284464" y="5020056"/>
            <a:ext cx="109728" cy="109728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13064" y="4946904"/>
            <a:ext cx="2679191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데이터 기반 정책 의사결정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47304" y="5715000"/>
            <a:ext cx="3136392" cy="3657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47304" y="5733288"/>
            <a:ext cx="3136392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200" b="1">
                <a:solidFill>
                  <a:srgbClr val="767676"/>
                </a:solidFill>
                <a:latin typeface="Pretendard"/>
              </a:defRPr>
            </a:pPr>
            <a:r>
              <a:t>건강한 마켓플레이스 생태계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플랫폼 생태계 선순환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단순한 인사이트를 넘어, 플랫폼 생태계의 선순환을 만드는 데이터 분석을 진행하였습니다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029200" cy="4206240"/>
          </a:xfrm>
          <a:prstGeom prst="roundRect">
            <a:avLst>
              <a:gd name="adj" fmla="val 6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19" y="2423160"/>
            <a:ext cx="54864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514600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데이터는 숫자가 아니라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383280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호스트의 내일을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51960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바꾸는 도구입니다.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5166360"/>
            <a:ext cx="228600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53492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400" b="0">
                <a:solidFill>
                  <a:srgbClr val="FFCCD5"/>
                </a:solidFill>
                <a:latin typeface="Pretendard"/>
              </a:defRPr>
            </a:pPr>
            <a:r>
              <a:t>서울 에어비앤비 RevPAR 최적화 프로젝트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965960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39112"/>
            <a:ext cx="36576" cy="768096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0391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1">
                <a:solidFill>
                  <a:srgbClr val="FF385C"/>
                </a:solidFill>
                <a:latin typeface="Pretendard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03911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예측이 아닌, 행동을 설계합니다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35000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SHAP → 액션 전환 파이프라인으로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호스트가 '무엇을 해야 하는지' 직접 알려줍니다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017520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3090672"/>
            <a:ext cx="36576" cy="768096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090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1">
                <a:solidFill>
                  <a:srgbClr val="00A699"/>
                </a:solidFill>
                <a:latin typeface="Pretendard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0906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개별 숙소와 시장, 두 눈으로 봅니다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0156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LightGBM(호스트 단위) + K-Means(자치구 단위)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미시와 거시를 동시에 분석합니다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4069079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4142231"/>
            <a:ext cx="36576" cy="7680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142231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1">
                <a:solidFill>
                  <a:srgbClr val="4A90D9"/>
                </a:solidFill>
                <a:latin typeface="Pretendard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142231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위험을 예측하고, 기회를 제안합니다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453127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Phantom Revenue, Rate Outlier 등 5가지 리스크 규칙과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건강점수 A~F 등급으로 선제적 관리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5120640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5193792"/>
            <a:ext cx="36576" cy="76809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519379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1">
                <a:solidFill>
                  <a:srgbClr val="8E44AD"/>
                </a:solidFill>
                <a:latin typeface="Pretendard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19379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분석이 끝이 아닌, 시작입니다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5046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Streamlit 대시보드 + 자동 이메일 알림으로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분석 결과가 호스트의 일상에 스며듭니다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플랫폼 생태계 선순환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단순한 인사이트를 넘어, 플랫폼 생태계의 선순환을 만드는 데이터 분석을 진행하였습니다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49240" cy="457200"/>
          </a:xfrm>
          <a:prstGeom prst="roundRect">
            <a:avLst>
              <a:gd name="adj" fmla="val 4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11679"/>
            <a:ext cx="4983479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2000" b="1">
                <a:solidFill>
                  <a:srgbClr val="767676"/>
                </a:solidFill>
                <a:latin typeface="Pretendard"/>
              </a:defRPr>
            </a:pPr>
            <a:r>
              <a:t>BEFORE — 기존 방식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39"/>
            <a:ext cx="5349240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715768"/>
            <a:ext cx="329184" cy="329184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79191"/>
            <a:ext cx="443484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감에 의존한 가격 설정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64407"/>
            <a:ext cx="5349240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374135"/>
            <a:ext cx="329184" cy="329184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74135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37559"/>
            <a:ext cx="443484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왜 예약이 안 되는지 모름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22775"/>
            <a:ext cx="5349240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032503"/>
            <a:ext cx="329184" cy="329184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32503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95927"/>
            <a:ext cx="443484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비활성 리스팅 방치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81144"/>
            <a:ext cx="5349240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690872"/>
            <a:ext cx="329184" cy="329184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90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654296"/>
            <a:ext cx="443484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자치구 시장 상황 파악 불가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39512"/>
            <a:ext cx="5349240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5349240"/>
            <a:ext cx="329184" cy="329184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49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312664"/>
            <a:ext cx="443484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리스크를 사후에 발견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4747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3600" b="1">
                <a:solidFill>
                  <a:srgbClr val="FF385C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1965960"/>
            <a:ext cx="5349240" cy="457200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11679"/>
            <a:ext cx="4983479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2000" b="1">
                <a:solidFill>
                  <a:srgbClr val="FFFFFF"/>
                </a:solidFill>
                <a:latin typeface="Pretendard"/>
              </a:defRPr>
            </a:pPr>
            <a:r>
              <a:t>AFTER — 데이터 기반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2606039"/>
            <a:ext cx="5349240" cy="54864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2660903"/>
            <a:ext cx="36576" cy="43891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92240" y="2715768"/>
            <a:ext cx="329184" cy="329184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71576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679191"/>
            <a:ext cx="443484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ADR 예측 모델로 적정 가격 제시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3264407"/>
            <a:ext cx="5349240" cy="54864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3319271"/>
            <a:ext cx="36576" cy="43891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92240" y="3374135"/>
            <a:ext cx="329184" cy="329184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374135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337559"/>
            <a:ext cx="443484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SHAP Top 5 액션으로 원인 진단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3922775"/>
            <a:ext cx="5349240" cy="54864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5080" y="3977639"/>
            <a:ext cx="36576" cy="438912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2240" y="4032503"/>
            <a:ext cx="329184" cy="329184"/>
          </a:xfrm>
          <a:prstGeom prst="ellipse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032503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3995927"/>
            <a:ext cx="443484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건강점수 F등급 조기 경보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4581144"/>
            <a:ext cx="5349240" cy="54864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55080" y="4636007"/>
            <a:ext cx="36576" cy="43891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2240" y="4690872"/>
            <a:ext cx="329184" cy="329184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4690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4654296"/>
            <a:ext cx="443484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K-Means 군집으로 시장 포지션 파악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5080" y="5239512"/>
            <a:ext cx="5349240" cy="548640"/>
          </a:xfrm>
          <a:prstGeom prst="roundRect">
            <a:avLst>
              <a:gd name="adj" fmla="val 4000"/>
            </a:avLst>
          </a:prstGeom>
          <a:solidFill>
            <a:srgbClr val="F3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55080" y="5294375"/>
            <a:ext cx="36576" cy="43891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92240" y="5349240"/>
            <a:ext cx="329184" cy="329184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5349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5312664"/>
            <a:ext cx="443484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5가지 규칙 엔진으로 리스크 사전 감지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플랫폼 생태계 선순환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단순한 인사이트를 넘어, 플랫폼 생태계의 선순환을 만드는 데이터 분석을 진행하였습니다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789920" cy="22860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59152"/>
            <a:ext cx="228600" cy="228600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400" b="1">
                <a:solidFill>
                  <a:srgbClr val="484848"/>
                </a:solidFill>
                <a:latin typeface="Pretendard"/>
              </a:defRPr>
            </a:pPr>
            <a:r>
              <a:t>호스트의 성장이 → 게스트 만족으로,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999232"/>
            <a:ext cx="228600" cy="22860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400" b="1">
                <a:solidFill>
                  <a:srgbClr val="484848"/>
                </a:solidFill>
                <a:latin typeface="Pretendard"/>
              </a:defRPr>
            </a:pPr>
            <a:r>
              <a:t>게스트 만족이 → 플랫폼 성장으로,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639312"/>
            <a:ext cx="228600" cy="2286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5661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400" b="1">
                <a:solidFill>
                  <a:srgbClr val="484848"/>
                </a:solidFill>
                <a:latin typeface="Pretendard"/>
              </a:defRPr>
            </a:pPr>
            <a:r>
              <a:t>플랫폼 성장이 → 더 나은 인사이트로.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840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이 프로젝트는 단일 분석이 아닌, 자생적 개선 루프를 설계합니다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" y="4608576"/>
            <a:ext cx="3410712" cy="169164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341071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3410712" cy="45720"/>
          </a:xfrm>
          <a:prstGeom prst="roundRect">
            <a:avLst>
              <a:gd name="adj" fmla="val 5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754880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800" b="1">
                <a:solidFill>
                  <a:srgbClr val="FF385C"/>
                </a:solidFill>
                <a:latin typeface="Pretendard"/>
              </a:defRPr>
            </a:pPr>
            <a:r>
              <a:t>R² = 0.85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257800"/>
            <a:ext cx="304495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호스트 통제 변수만으로</a:t>
            </a:r>
          </a:p>
          <a:p>
            <a:pPr algn="ctr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RevPAR 85% 설명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852159"/>
            <a:ext cx="2862072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70447"/>
            <a:ext cx="2862072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LightGBM 5-Fold CV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4608576"/>
            <a:ext cx="3410712" cy="169164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25112" y="4572000"/>
            <a:ext cx="341071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25112" y="4572000"/>
            <a:ext cx="3410712" cy="45720"/>
          </a:xfrm>
          <a:prstGeom prst="roundRect">
            <a:avLst>
              <a:gd name="adj" fmla="val 5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4754880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800" b="1">
                <a:solidFill>
                  <a:srgbClr val="00A699"/>
                </a:solidFill>
                <a:latin typeface="Pretendard"/>
              </a:defRPr>
            </a:pPr>
            <a:r>
              <a:t>k = 4 군집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5257800"/>
            <a:ext cx="304495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25개 자치구를</a:t>
            </a:r>
          </a:p>
          <a:p>
            <a:pPr algn="ctr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4대 시장 유형으로 분류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99432" y="5852159"/>
            <a:ext cx="2862072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5870447"/>
            <a:ext cx="2862072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K-Means + Elbow Method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4608576"/>
            <a:ext cx="3410712" cy="169164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10144" y="4572000"/>
            <a:ext cx="341071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10144" y="4572000"/>
            <a:ext cx="3410712" cy="4572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023" y="4754880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800" b="1">
                <a:solidFill>
                  <a:srgbClr val="4A90D9"/>
                </a:solidFill>
                <a:latin typeface="Pretendard"/>
              </a:defRPr>
            </a:pPr>
            <a:r>
              <a:t>5 규칙 엔진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5257800"/>
            <a:ext cx="304495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Phantom Revenue 등</a:t>
            </a:r>
          </a:p>
          <a:p>
            <a:pPr algn="ctr">
              <a:defRPr sz="1300" b="0">
                <a:solidFill>
                  <a:srgbClr val="484848"/>
                </a:solidFill>
                <a:latin typeface="Pretendard"/>
              </a:defRPr>
            </a:pPr>
            <a:r>
              <a:t>리스크 자동 탐지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84464" y="5852159"/>
            <a:ext cx="2862072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5870447"/>
            <a:ext cx="2862072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IQR + Z-score 기반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
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84848"/>
                </a:solidFill>
                <a:latin typeface="Noto Sans KR"/>
              </a:rPr>
              <a:t>왜 K-Means 자치구 분류인가?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" cy="141732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1627632"/>
            <a:ext cx="384048" cy="384048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00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84848"/>
                </a:solidFill>
                <a:latin typeface="Noto Sans KR"/>
              </a:rPr>
              <a:t>자치구마다 시장 구조가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8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마포구(₩63,366) vs 금천구(₩26,423) — RevPAR 2.4배 차이.
같은 서울이라도 공급량·수익·비활성 비율이 근본적으로 다름.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512064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4864" cy="14173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3227832"/>
            <a:ext cx="384048" cy="38404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84848"/>
                </a:solidFill>
                <a:latin typeface="Noto Sans KR"/>
              </a:rPr>
              <a:t>유사한 시장끼리 자동 그룹화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61188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4개 피처(RevPAR·공급량·비활성비율·슈퍼호스트율) 기반
객관적 거리 측정으로 25개 자치구를 4개 유형으로 분류.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12064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4864" cy="141732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Oval 15"/>
          <p:cNvSpPr/>
          <p:nvPr/>
        </p:nvSpPr>
        <p:spPr>
          <a:xfrm>
            <a:off x="914400" y="4828031"/>
            <a:ext cx="384048" cy="384048"/>
          </a:xfrm>
          <a:prstGeom prst="ellipse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00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84848"/>
                </a:solidFill>
                <a:latin typeface="Noto Sans KR"/>
              </a:rPr>
              <a:t>시장 유형별 차별화된 전략 도출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12079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67676"/>
                </a:solidFill>
                <a:latin typeface="Noto Sans KR"/>
              </a:rPr>
              <a:t>25개 개별 전략이 아닌 4개 유형 전략으로 실행 가능성↑
호스트에게 '내 동네는 어떤 시장인가?' 답변 제공.</a:t>
            </a:r>
          </a:p>
        </p:txBody>
      </p:sp>
      <p:pic>
        <p:nvPicPr>
          <p:cNvPr id="19" name="Picture 18" descr="ppt_why_kmean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30952" cy="30957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080760"/>
            <a:ext cx="10728655" cy="45720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45720" cy="45720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61539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84848"/>
                </a:solidFill>
                <a:latin typeface="Noto Sans KR"/>
              </a:rPr>
              <a:t>● </a:t>
            </a:r>
            <a:r>
              <a:rPr sz="1400" b="1">
                <a:solidFill>
                  <a:srgbClr val="FF5A5F"/>
                </a:solidFill>
                <a:latin typeface="Noto Sans KR"/>
              </a:rPr>
              <a:t>핵심: </a:t>
            </a:r>
            <a:r>
              <a:rPr sz="1400" b="0">
                <a:solidFill>
                  <a:srgbClr val="484848"/>
                </a:solidFill>
                <a:latin typeface="Noto Sans KR"/>
              </a:rPr>
              <a:t>개별 자치구 25개 분석 → 파편화 / 서울 전체 1개 분석 → 과잉 일반화. </a:t>
            </a:r>
            <a:r>
              <a:rPr sz="1400" b="1">
                <a:solidFill>
                  <a:srgbClr val="FF5A5F"/>
                </a:solidFill>
                <a:latin typeface="Noto Sans KR"/>
              </a:rPr>
              <a:t>4개 유형 분류가 실행 가능한 최적 단위.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37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Noto Sans KR"/>
              </a:rPr>
              <a:t>데이터: 서울 에어비앤비 32,061개 리스팅 · Active+Operating 14,399개 · TTM 12개월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